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126" d="100"/>
          <a:sy n="126" d="100"/>
        </p:scale>
        <p:origin x="18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609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thầy/cô và các bạn, nhóm 06 xin trình bày đồ án "Quản lý điện thoại di động". Hệ thống dùng cây nhị phân tìm kiếm làm kho dữ liệu chính, và danh sách liên kết đơn riêng cho chức năng sắp xếp. Bài trình bày gồm 11 slide: thiết kế dữ liệu, các giải thuật trên BST, chuyển đổi sang danh sách liên kết, Merge Sort và đánh giá độ phức tạp. Em xin giới thiệu các thành viên rồi vào nội dung chính.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mấu chốt là mỗi cấu trúc dữ liệu làm đúng việc nó giỏi nhất. BST sắp theo mã điện thoại nên tìm, thêm, xóa nhanh, nhưng chỉ có một thứ tự duy nhất theo mã. Khi cần sắp theo tên, năm sản xuất và giá bán, nhóm em không tái cấu trúc cây mà chép dữ liệu sang danh sách liên kết rồi sắp xếp ở đó. Mỗi lần chọn chức năng 11, danh sách được xóa và dựng lại từ cây, nên cây gốc không bị ảnh hưởng.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ghi DienThoai có sáu trường, trong đó maDT tối đa 15 ký tự là khóa chính của cây, còn tinhTrang lưu kiểu bool: 1 là đã bán, 0 là tồn kho. Node của cây có hai con trỏ left và right, con trỏ gốc khai báo qua typedef Tree. Danh sách liên kết dùng NodeList với pNext, còn struct List giữ cả pHead và pTail để AddTail chỉ tốn O(1). Vì hai loại node dùng chung kiểu DienThoai nên chuyển dữ liệu từ cây sang list chỉ là gán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nạp 15 bản ghi mẫu đúng thứ tự trong file, bắt đầu từ gốc DT025. Em nhấn mạnh phép duyệt LNR, vì với BST nó luôn cho dãy mã tăng dần, từ DT001 đến DT049, nên không cần sắp xếp riêng theo mã. RLN không phải thứ tự giảm dần mà là một thứ tự riêng, vì gốc của mỗi cây con luôn được in sau cùng. Ngoài ra chức năng 12 cho phép ghi cây ra file dạng sơ đồ 2D bằng XuatSoDoCayVaoFile, giúp nhìn ngay hình dạng và độ cân bằng của cây.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Chèn và tìm kiếm đều dựa trên một ý tưởng: so sánh khóa rồi rẽ trái hoặc phải, mỗi bước bỏ qua cả một nhánh. Ví dụ tìm DT018 trong 15 node chỉ mất 3 lần so sánh. Khi chèn, InsertNode trả về 0 nếu trùng mã nên khóa luôn duy nhất. Độ phức tạp là O(h), tức trung bình O(log n) và xấu nhất O(n), em sẽ quay lại ở slide 10. Còn tìm theo tên hay hãng thì không tận dụng được cấu trúc cây nên phải duyệt toàn bộ.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Xóa node là thao tác khó nhất trên BST vì phải giữ tính chất sắp thứ tự. Với node lá hoặc một con, nhóm em chỉ nối lại con trỏ rồi delete. Với node hai con như DT012, hàm TimNodeThayThe đi sang cây con phải rồi rẽ trái hết mức để tìm DT014, ghi đè dữ liệu DT014 lên DT012, rồi cho Xoa trỏ vào node DT014 cũ và nối nhánh phải của nó lên. Nhờ truyền tham chiếu con trỏ nên toàn bộ việc này xong trong một lượt đi xuống, không phải gọi lại hàm xóa, và chi phí vẫn chỉ O(h). Kết quả LNR sau khi xóa vẫn tăng dần, chứng tỏ tính chất BST được giữ nguyên.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chuyển dữ liệu, nhóm em duyệt cây theo LNR và gọi AddTail cho từng node, tổng chi phí O(n). Hàm SoSanhUuTien so sánh tên trước bằng _stricmp nên không phân biệt hoa thường, nếu trùng thì xét năm sản xuất, rồi giá bán, cuối cùng là mã bằng strcmp. Trong file DienThoai2, em cố ý cho nhiều bản ghi trùng cả tên, năm và giá, và kết quả vẫn ra đúng thứ tự mã DT004, DT014, DT024... Cả ba giải thuật sắp xếp dùng chung hàm này nên cho cùng một kết quả.</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rất hợp với danh sách liên kết vì bước trộn chỉ là nối lại pNext. Hàm TachDoiList dùng hai con trỏ slow và fast để tìm trung điểm mà không cần biết độ dài, rồi cắt tại slow-&gt;pNext. Điểm tối ưu của nhóm em là TronHaiList viết bằng vòng lặp với node giả dummy, nên bước trộn không đệ quy, không cấp phát node mới và chỉ dùng bộ nhớ phụ O(1). Chiều sâu đệ quy là log n, mỗi tầng tốn O(n), nên tổng là O(n log n). Trên dữ liệu ví dụ, kết quả cuối trùng với Selection Sort và Insertion Sort trong báo cáo.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undefinedBa giải thuật cho cùng kết quả nhưng khác xa về hiệu năng. Selection Sort luôn so sánh O(n²) lần, Insertion Sort cũng O(n²) trong trường hợp trung bình, còn Merge Sort ổn định ở O(n log n). Bảng thực nghiệm cho thấy khi n tăng gấp đôi, hai giải thuật đầu chậm đi khoảng bốn lần, còn Merge chỉ gấp hơn hai lần, và ở 20.000 bản ghi Merge nhanh hơn hàng trăm lần. Với dữ liệu nhỏ như đề tài, cả ba đều chạy gần như tức thì, nhưng khi mở rộng dữ liệu thì Merge Sort là lựa chọn phù hợp.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tự đánh giá hai hạn chế chính. Thứ nhất, BST không tự cân bằng nên nếu file nạp vào đã có thứ tự thì cây suy biến thành danh sách và mọi thao tác chậm xuống O(n). Thứ hai, để lọc hãng duy nhất, hàm DaXuatHienTruoc phải quét lại toàn cây tại mỗi node nên chức năng 7 và 10 xấp xỉ O(n²). Hướng khắc phục là nâng cấp lên cây AVL hoặc Red-Black để chiều cao luôn là log n, và dùng bảng băm để kiểm tra trùng hãng trong O(1), đưa hàm lọc về O(n). Ngoài ra nhóm dự định nâng cấp giao diện console lên GUI.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nhóm em đã xây dựng hệ thống với BST làm kho dữ liệu chính, danh sách liên kết để sắp xếp đa tiêu chí, và đã cài đặt cả lưu, đọc file lẫn xuất sơ đồ cây 2D. Điểm nhấn kỹ thuật là xóa node hai con bằng TimNodeThayThe truyền tham chiếu con trỏ, và Merge Sort với TachDoiList, TronHaiList viết bằng vòng lặp. Nhóm cũng chỉ ra hạn chế về cây thoái hóa và nút thắt O(n²), kèm hướng khắc phục bằng AVL, bảng băm và nâng cấp GUI. Nhóm em xin cảm ơn thầy/cô và rất mong nhận được câu hỏi.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52B"/>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HỆ THỐNG QUẢN LÝ ĐIỆN THOẠI DI ĐỘNG</a:t>
            </a:r>
            <a:endParaRPr lang="en-US" sz="2600" dirty="0"/>
          </a:p>
        </p:txBody>
      </p:sp>
      <p:sp>
        <p:nvSpPr>
          <p:cNvPr id="3" name="Text 1"/>
          <p:cNvSpPr txBox="1"/>
          <p:nvPr/>
        </p:nvSpPr>
        <p:spPr>
          <a:xfrm>
            <a:off x="457200" y="1737360"/>
            <a:ext cx="4754880" cy="2103120"/>
          </a:xfrm>
          <a:prstGeom prst="rect">
            <a:avLst/>
          </a:prstGeom>
          <a:noFill/>
          <a:ln/>
        </p:spPr>
        <p:txBody>
          <a:bodyPr wrap="square" lIns="0" tIns="0" rIns="0" bIns="0" rtlCol="0" anchor="t"/>
          <a:lstStyle/>
          <a:p>
            <a:pPr marL="0" indent="0">
              <a:spcAft>
                <a:spcPts val="400"/>
              </a:spcAft>
              <a:buNone/>
            </a:pPr>
            <a:r>
              <a:rPr lang="en-US" sz="1400" b="1" dirty="0">
                <a:solidFill>
                  <a:srgbClr val="7FB069"/>
                </a:solidFill>
                <a:latin typeface="Calibri" pitchFamily="34" charset="0"/>
                <a:ea typeface="Calibri" pitchFamily="34" charset="-122"/>
                <a:cs typeface="Calibri" pitchFamily="34" charset="-120"/>
              </a:rPr>
              <a:t>Môn: Cấu trúc dữ liệu và Giải </a:t>
            </a:r>
            <a:r>
              <a:rPr lang="en-US" sz="1400" b="1" dirty="0" err="1">
                <a:solidFill>
                  <a:srgbClr val="7FB069"/>
                </a:solidFill>
                <a:latin typeface="Calibri" pitchFamily="34" charset="0"/>
                <a:ea typeface="Calibri" pitchFamily="34" charset="-122"/>
                <a:cs typeface="Calibri" pitchFamily="34" charset="-120"/>
              </a:rPr>
              <a:t>thuật</a:t>
            </a:r>
            <a:r>
              <a:rPr lang="en-US" sz="1400" b="1" dirty="0">
                <a:solidFill>
                  <a:srgbClr val="7FB069"/>
                </a:solidFill>
                <a:latin typeface="Calibri" pitchFamily="34" charset="0"/>
                <a:ea typeface="Calibri" pitchFamily="34" charset="-122"/>
                <a:cs typeface="Calibri" pitchFamily="34" charset="-120"/>
              </a:rPr>
              <a:t> </a:t>
            </a:r>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GVHD: </a:t>
            </a:r>
          </a:p>
          <a:p>
            <a:pPr marL="0" indent="0">
              <a:spcAft>
                <a:spcPts val="400"/>
              </a:spcAft>
              <a:buNone/>
            </a:pPr>
            <a:endParaRPr lang="en-US" sz="1400" dirty="0">
              <a:solidFill>
                <a:srgbClr val="FFFFFF"/>
              </a:solidFill>
              <a:latin typeface="Calibri" pitchFamily="34" charset="0"/>
              <a:ea typeface="Calibri" pitchFamily="34" charset="-122"/>
              <a:cs typeface="Calibri" pitchFamily="34" charset="-120"/>
            </a:endParaRPr>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Lý Văn Sình – 2513797 </a:t>
            </a: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Pham Xuân Trường – 2513839 </a:t>
            </a: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Nguyễn Thành Đạt – 2513738</a:t>
            </a:r>
            <a:endParaRPr lang="en-US" sz="1400" dirty="0"/>
          </a:p>
          <a:p>
            <a:pPr marL="0" indent="0">
              <a:spcAft>
                <a:spcPts val="400"/>
              </a:spcAft>
              <a:buNone/>
            </a:pPr>
            <a:r>
              <a:rPr lang="en-US" sz="1400" dirty="0">
                <a:solidFill>
                  <a:srgbClr val="FFFFFF"/>
                </a:solidFill>
                <a:latin typeface="Calibri" pitchFamily="34" charset="0"/>
                <a:ea typeface="Calibri" pitchFamily="34" charset="-122"/>
                <a:cs typeface="Calibri" pitchFamily="34" charset="-120"/>
              </a:rPr>
              <a:t>Hồ Kiếm Hùng – 2513672 </a:t>
            </a:r>
            <a:endParaRPr lang="en-US" sz="1400" dirty="0"/>
          </a:p>
        </p:txBody>
      </p:sp>
      <p:sp>
        <p:nvSpPr>
          <p:cNvPr id="4" name="Text 2"/>
          <p:cNvSpPr txBox="1"/>
          <p:nvPr/>
        </p:nvSpPr>
        <p:spPr>
          <a:xfrm>
            <a:off x="457200" y="4297680"/>
            <a:ext cx="8229600" cy="365760"/>
          </a:xfrm>
          <a:prstGeom prst="rect">
            <a:avLst/>
          </a:prstGeom>
          <a:noFill/>
          <a:ln/>
        </p:spPr>
        <p:txBody>
          <a:bodyPr wrap="square" lIns="0" tIns="0" rIns="0" bIns="0" rtlCol="0" anchor="ctr"/>
          <a:lstStyle/>
          <a:p>
            <a:pPr marL="0" indent="0">
              <a:buNone/>
            </a:pPr>
            <a:r>
              <a:rPr lang="en-US" sz="1100" dirty="0">
                <a:solidFill>
                  <a:srgbClr val="F2A541"/>
                </a:solidFill>
                <a:latin typeface="Courier New" pitchFamily="34" charset="0"/>
                <a:ea typeface="Courier New" pitchFamily="34" charset="-122"/>
                <a:cs typeface="Courier New" pitchFamily="34" charset="-120"/>
              </a:rPr>
              <a:t>BST · Singly Linked List · TimNodeThayThe · Merge Sort · Độ phức tạp</a:t>
            </a:r>
            <a:endParaRPr lang="en-US" sz="1100" dirty="0"/>
          </a:p>
        </p:txBody>
      </p:sp>
      <p:sp>
        <p:nvSpPr>
          <p:cNvPr id="5" name="Shape 3"/>
          <p:cNvSpPr/>
          <p:nvPr/>
        </p:nvSpPr>
        <p:spPr>
          <a:xfrm flipH="1">
            <a:off x="6537960" y="2148840"/>
            <a:ext cx="548640" cy="422910"/>
          </a:xfrm>
          <a:prstGeom prst="line">
            <a:avLst/>
          </a:prstGeom>
          <a:noFill/>
          <a:ln w="25400">
            <a:solidFill>
              <a:srgbClr val="7FB069"/>
            </a:solidFill>
            <a:prstDash val="solid"/>
          </a:ln>
        </p:spPr>
        <p:txBody>
          <a:bodyPr/>
          <a:lstStyle/>
          <a:p>
            <a:endParaRPr lang="en-US"/>
          </a:p>
        </p:txBody>
      </p:sp>
      <p:sp>
        <p:nvSpPr>
          <p:cNvPr id="6" name="Shape 4"/>
          <p:cNvSpPr/>
          <p:nvPr/>
        </p:nvSpPr>
        <p:spPr>
          <a:xfrm>
            <a:off x="7269480" y="2148840"/>
            <a:ext cx="548640" cy="457200"/>
          </a:xfrm>
          <a:prstGeom prst="line">
            <a:avLst/>
          </a:prstGeom>
          <a:noFill/>
          <a:ln w="25400">
            <a:solidFill>
              <a:srgbClr val="7FB069"/>
            </a:solidFill>
            <a:prstDash val="solid"/>
          </a:ln>
        </p:spPr>
        <p:txBody>
          <a:bodyPr/>
          <a:lstStyle/>
          <a:p>
            <a:endParaRPr lang="en-US"/>
          </a:p>
        </p:txBody>
      </p:sp>
      <p:sp>
        <p:nvSpPr>
          <p:cNvPr id="7" name="Shape 5"/>
          <p:cNvSpPr/>
          <p:nvPr/>
        </p:nvSpPr>
        <p:spPr>
          <a:xfrm>
            <a:off x="6903720" y="1691640"/>
            <a:ext cx="548640" cy="548640"/>
          </a:xfrm>
          <a:prstGeom prst="ellipse">
            <a:avLst/>
          </a:prstGeom>
          <a:solidFill>
            <a:srgbClr val="7FB069"/>
          </a:solidFill>
          <a:ln w="12700">
            <a:solidFill>
              <a:srgbClr val="7FB069"/>
            </a:solidFill>
            <a:prstDash val="solid"/>
          </a:ln>
        </p:spPr>
        <p:txBody>
          <a:bodyPr/>
          <a:lstStyle/>
          <a:p>
            <a:endParaRPr lang="en-US"/>
          </a:p>
        </p:txBody>
      </p:sp>
      <p:sp>
        <p:nvSpPr>
          <p:cNvPr id="8" name="Text 6"/>
          <p:cNvSpPr txBox="1"/>
          <p:nvPr/>
        </p:nvSpPr>
        <p:spPr>
          <a:xfrm>
            <a:off x="6903720" y="1691640"/>
            <a:ext cx="548640" cy="548640"/>
          </a:xfrm>
          <a:prstGeom prst="rect">
            <a:avLst/>
          </a:prstGeom>
          <a:noFill/>
          <a:ln/>
        </p:spPr>
        <p:txBody>
          <a:bodyPr wrap="square" lIns="0" tIns="0" rIns="0" bIns="0" rtlCol="0" anchor="ctr"/>
          <a:lstStyle/>
          <a:p>
            <a:pPr marL="0" indent="0" algn="ctr">
              <a:buNone/>
            </a:pPr>
            <a:r>
              <a:rPr lang="en-US" sz="1000" b="1" dirty="0">
                <a:solidFill>
                  <a:srgbClr val="12352B"/>
                </a:solidFill>
                <a:latin typeface="Calibri" pitchFamily="34" charset="0"/>
                <a:ea typeface="Calibri" pitchFamily="34" charset="-122"/>
                <a:cs typeface="Calibri" pitchFamily="34" charset="-120"/>
              </a:rPr>
              <a:t>025</a:t>
            </a:r>
            <a:endParaRPr lang="en-US" sz="1000" dirty="0"/>
          </a:p>
        </p:txBody>
      </p:sp>
      <p:sp>
        <p:nvSpPr>
          <p:cNvPr id="9" name="Shape 7"/>
          <p:cNvSpPr/>
          <p:nvPr/>
        </p:nvSpPr>
        <p:spPr>
          <a:xfrm>
            <a:off x="6263640" y="2560320"/>
            <a:ext cx="548640" cy="548640"/>
          </a:xfrm>
          <a:prstGeom prst="ellipse">
            <a:avLst/>
          </a:prstGeom>
          <a:solidFill>
            <a:srgbClr val="7FB069"/>
          </a:solidFill>
          <a:ln w="12700">
            <a:solidFill>
              <a:srgbClr val="7FB069"/>
            </a:solidFill>
            <a:prstDash val="solid"/>
          </a:ln>
        </p:spPr>
        <p:txBody>
          <a:bodyPr/>
          <a:lstStyle/>
          <a:p>
            <a:endParaRPr lang="en-US"/>
          </a:p>
        </p:txBody>
      </p:sp>
      <p:sp>
        <p:nvSpPr>
          <p:cNvPr id="10" name="Text 8"/>
          <p:cNvSpPr txBox="1"/>
          <p:nvPr/>
        </p:nvSpPr>
        <p:spPr>
          <a:xfrm>
            <a:off x="6263640" y="2560320"/>
            <a:ext cx="548640" cy="548640"/>
          </a:xfrm>
          <a:prstGeom prst="rect">
            <a:avLst/>
          </a:prstGeom>
          <a:noFill/>
          <a:ln/>
        </p:spPr>
        <p:txBody>
          <a:bodyPr wrap="square" lIns="0" tIns="0" rIns="0" bIns="0" rtlCol="0" anchor="ctr"/>
          <a:lstStyle/>
          <a:p>
            <a:pPr marL="0" indent="0" algn="ctr">
              <a:buNone/>
            </a:pPr>
            <a:r>
              <a:rPr lang="en-US" sz="1000" b="1" dirty="0">
                <a:solidFill>
                  <a:srgbClr val="12352B"/>
                </a:solidFill>
                <a:latin typeface="Calibri" pitchFamily="34" charset="0"/>
                <a:ea typeface="Calibri" pitchFamily="34" charset="-122"/>
                <a:cs typeface="Calibri" pitchFamily="34" charset="-120"/>
              </a:rPr>
              <a:t>012</a:t>
            </a:r>
            <a:endParaRPr lang="en-US" sz="1000" dirty="0"/>
          </a:p>
        </p:txBody>
      </p:sp>
      <p:sp>
        <p:nvSpPr>
          <p:cNvPr id="11" name="Shape 9"/>
          <p:cNvSpPr/>
          <p:nvPr/>
        </p:nvSpPr>
        <p:spPr>
          <a:xfrm>
            <a:off x="7543800" y="2560320"/>
            <a:ext cx="548640" cy="548640"/>
          </a:xfrm>
          <a:prstGeom prst="ellipse">
            <a:avLst/>
          </a:prstGeom>
          <a:solidFill>
            <a:srgbClr val="7FB069"/>
          </a:solidFill>
          <a:ln w="12700">
            <a:solidFill>
              <a:srgbClr val="7FB069"/>
            </a:solidFill>
            <a:prstDash val="solid"/>
          </a:ln>
        </p:spPr>
        <p:txBody>
          <a:bodyPr/>
          <a:lstStyle/>
          <a:p>
            <a:endParaRPr lang="en-US"/>
          </a:p>
        </p:txBody>
      </p:sp>
      <p:sp>
        <p:nvSpPr>
          <p:cNvPr id="12" name="Text 10"/>
          <p:cNvSpPr txBox="1"/>
          <p:nvPr/>
        </p:nvSpPr>
        <p:spPr>
          <a:xfrm>
            <a:off x="7543800" y="2560320"/>
            <a:ext cx="548640" cy="548640"/>
          </a:xfrm>
          <a:prstGeom prst="rect">
            <a:avLst/>
          </a:prstGeom>
          <a:noFill/>
          <a:ln/>
        </p:spPr>
        <p:txBody>
          <a:bodyPr wrap="square" lIns="0" tIns="0" rIns="0" bIns="0" rtlCol="0" anchor="ctr"/>
          <a:lstStyle/>
          <a:p>
            <a:pPr marL="0" indent="0" algn="ctr">
              <a:buNone/>
            </a:pPr>
            <a:r>
              <a:rPr lang="en-US" sz="1000" b="1" dirty="0">
                <a:solidFill>
                  <a:srgbClr val="12352B"/>
                </a:solidFill>
                <a:latin typeface="Calibri" pitchFamily="34" charset="0"/>
                <a:ea typeface="Calibri" pitchFamily="34" charset="-122"/>
                <a:cs typeface="Calibri" pitchFamily="34" charset="-120"/>
              </a:rPr>
              <a:t>037</a:t>
            </a:r>
            <a:endParaRPr lang="en-US" sz="1000" dirty="0"/>
          </a:p>
        </p:txBody>
      </p:sp>
      <p:sp>
        <p:nvSpPr>
          <p:cNvPr id="13" name="Shape 11"/>
          <p:cNvSpPr/>
          <p:nvPr/>
        </p:nvSpPr>
        <p:spPr>
          <a:xfrm>
            <a:off x="5943600" y="3657600"/>
            <a:ext cx="777240" cy="457200"/>
          </a:xfrm>
          <a:prstGeom prst="roundRect">
            <a:avLst>
              <a:gd name="adj" fmla="val 12000"/>
            </a:avLst>
          </a:prstGeom>
          <a:solidFill>
            <a:srgbClr val="FFFFFF"/>
          </a:solidFill>
          <a:ln w="19050">
            <a:solidFill>
              <a:srgbClr val="7FB069"/>
            </a:solidFill>
            <a:prstDash val="solid"/>
          </a:ln>
        </p:spPr>
        <p:txBody>
          <a:bodyPr/>
          <a:lstStyle/>
          <a:p>
            <a:endParaRPr lang="en-US"/>
          </a:p>
        </p:txBody>
      </p:sp>
      <p:sp>
        <p:nvSpPr>
          <p:cNvPr id="14" name="Text 12"/>
          <p:cNvSpPr txBox="1"/>
          <p:nvPr/>
        </p:nvSpPr>
        <p:spPr>
          <a:xfrm>
            <a:off x="5943600" y="3657600"/>
            <a:ext cx="777240" cy="457200"/>
          </a:xfrm>
          <a:prstGeom prst="rect">
            <a:avLst/>
          </a:prstGeom>
          <a:noFill/>
          <a:ln/>
        </p:spPr>
        <p:txBody>
          <a:bodyPr wrap="square" lIns="0" tIns="0" rIns="0" bIns="0" rtlCol="0" anchor="ctr"/>
          <a:lstStyle/>
          <a:p>
            <a:pPr marL="0" indent="0" algn="ctr">
              <a:buNone/>
            </a:pPr>
            <a:r>
              <a:rPr lang="en-US" sz="1000" b="1" dirty="0">
                <a:solidFill>
                  <a:srgbClr val="12352B"/>
                </a:solidFill>
                <a:latin typeface="Calibri" pitchFamily="34" charset="0"/>
                <a:ea typeface="Calibri" pitchFamily="34" charset="-122"/>
                <a:cs typeface="Calibri" pitchFamily="34" charset="-120"/>
              </a:rPr>
              <a:t>DT001</a:t>
            </a:r>
            <a:endParaRPr lang="en-US" sz="1000" dirty="0"/>
          </a:p>
        </p:txBody>
      </p:sp>
      <p:sp>
        <p:nvSpPr>
          <p:cNvPr id="15" name="Shape 13"/>
          <p:cNvSpPr/>
          <p:nvPr/>
        </p:nvSpPr>
        <p:spPr>
          <a:xfrm>
            <a:off x="6858000" y="3657600"/>
            <a:ext cx="777240" cy="457200"/>
          </a:xfrm>
          <a:prstGeom prst="roundRect">
            <a:avLst>
              <a:gd name="adj" fmla="val 12000"/>
            </a:avLst>
          </a:prstGeom>
          <a:solidFill>
            <a:srgbClr val="FFFFFF"/>
          </a:solidFill>
          <a:ln w="19050">
            <a:solidFill>
              <a:srgbClr val="7FB069"/>
            </a:solidFill>
            <a:prstDash val="solid"/>
          </a:ln>
        </p:spPr>
        <p:txBody>
          <a:bodyPr/>
          <a:lstStyle/>
          <a:p>
            <a:endParaRPr lang="en-US"/>
          </a:p>
        </p:txBody>
      </p:sp>
      <p:sp>
        <p:nvSpPr>
          <p:cNvPr id="16" name="Text 14"/>
          <p:cNvSpPr txBox="1"/>
          <p:nvPr/>
        </p:nvSpPr>
        <p:spPr>
          <a:xfrm>
            <a:off x="6858000" y="3657600"/>
            <a:ext cx="777240" cy="457200"/>
          </a:xfrm>
          <a:prstGeom prst="rect">
            <a:avLst/>
          </a:prstGeom>
          <a:noFill/>
          <a:ln/>
        </p:spPr>
        <p:txBody>
          <a:bodyPr wrap="square" lIns="0" tIns="0" rIns="0" bIns="0" rtlCol="0" anchor="ctr"/>
          <a:lstStyle/>
          <a:p>
            <a:pPr marL="0" indent="0" algn="ctr">
              <a:buNone/>
            </a:pPr>
            <a:r>
              <a:rPr lang="en-US" sz="1000" b="1" dirty="0">
                <a:solidFill>
                  <a:srgbClr val="12352B"/>
                </a:solidFill>
                <a:latin typeface="Calibri" pitchFamily="34" charset="0"/>
                <a:ea typeface="Calibri" pitchFamily="34" charset="-122"/>
                <a:cs typeface="Calibri" pitchFamily="34" charset="-120"/>
              </a:rPr>
              <a:t>DT003</a:t>
            </a:r>
            <a:endParaRPr lang="en-US" sz="1000" dirty="0"/>
          </a:p>
        </p:txBody>
      </p:sp>
      <p:sp>
        <p:nvSpPr>
          <p:cNvPr id="17" name="Shape 15"/>
          <p:cNvSpPr/>
          <p:nvPr/>
        </p:nvSpPr>
        <p:spPr>
          <a:xfrm>
            <a:off x="7772400" y="3657600"/>
            <a:ext cx="777240" cy="457200"/>
          </a:xfrm>
          <a:prstGeom prst="roundRect">
            <a:avLst>
              <a:gd name="adj" fmla="val 12000"/>
            </a:avLst>
          </a:prstGeom>
          <a:solidFill>
            <a:srgbClr val="FFFFFF"/>
          </a:solidFill>
          <a:ln w="19050">
            <a:solidFill>
              <a:srgbClr val="7FB069"/>
            </a:solidFill>
            <a:prstDash val="solid"/>
          </a:ln>
        </p:spPr>
        <p:txBody>
          <a:bodyPr/>
          <a:lstStyle/>
          <a:p>
            <a:endParaRPr lang="en-US"/>
          </a:p>
        </p:txBody>
      </p:sp>
      <p:sp>
        <p:nvSpPr>
          <p:cNvPr id="18" name="Text 16"/>
          <p:cNvSpPr txBox="1"/>
          <p:nvPr/>
        </p:nvSpPr>
        <p:spPr>
          <a:xfrm>
            <a:off x="7772400" y="3657600"/>
            <a:ext cx="777240" cy="457200"/>
          </a:xfrm>
          <a:prstGeom prst="rect">
            <a:avLst/>
          </a:prstGeom>
          <a:noFill/>
          <a:ln/>
        </p:spPr>
        <p:txBody>
          <a:bodyPr wrap="square" lIns="0" tIns="0" rIns="0" bIns="0" rtlCol="0" anchor="ctr"/>
          <a:lstStyle/>
          <a:p>
            <a:pPr marL="0" indent="0" algn="ctr">
              <a:buNone/>
            </a:pPr>
            <a:r>
              <a:rPr lang="en-US" sz="1000" b="1" dirty="0">
                <a:solidFill>
                  <a:srgbClr val="12352B"/>
                </a:solidFill>
                <a:latin typeface="Calibri" pitchFamily="34" charset="0"/>
                <a:ea typeface="Calibri" pitchFamily="34" charset="-122"/>
                <a:cs typeface="Calibri" pitchFamily="34" charset="-120"/>
              </a:rPr>
              <a:t>DT005</a:t>
            </a:r>
            <a:endParaRPr lang="en-US" sz="1000" dirty="0"/>
          </a:p>
        </p:txBody>
      </p:sp>
      <p:sp>
        <p:nvSpPr>
          <p:cNvPr id="19" name="Text 17"/>
          <p:cNvSpPr txBox="1"/>
          <p:nvPr/>
        </p:nvSpPr>
        <p:spPr>
          <a:xfrm>
            <a:off x="5943600" y="3246120"/>
            <a:ext cx="2743200" cy="274320"/>
          </a:xfrm>
          <a:prstGeom prst="rect">
            <a:avLst/>
          </a:prstGeom>
          <a:noFill/>
          <a:ln/>
        </p:spPr>
        <p:txBody>
          <a:bodyPr wrap="square" lIns="0" tIns="0" rIns="0" bIns="0" rtlCol="0" anchor="ctr"/>
          <a:lstStyle/>
          <a:p>
            <a:pPr marL="0" indent="0">
              <a:buNone/>
            </a:pPr>
            <a:r>
              <a:rPr lang="en-US" sz="1000" dirty="0">
                <a:solidFill>
                  <a:srgbClr val="7FB069"/>
                </a:solidFill>
                <a:latin typeface="Calibri" pitchFamily="34" charset="0"/>
                <a:ea typeface="Calibri" pitchFamily="34" charset="-122"/>
                <a:cs typeface="Calibri" pitchFamily="34" charset="-120"/>
              </a:rPr>
              <a:t>LNR + AddTail  ▼</a:t>
            </a:r>
            <a:endParaRPr lang="en-US" sz="1000" dirty="0"/>
          </a:p>
        </p:txBody>
      </p:sp>
      <p:sp>
        <p:nvSpPr>
          <p:cNvPr id="20" name="TextBox 19">
            <a:extLst>
              <a:ext uri="{FF2B5EF4-FFF2-40B4-BE49-F238E27FC236}">
                <a16:creationId xmlns:a16="http://schemas.microsoft.com/office/drawing/2014/main" id="{69301EA0-0DC3-8363-0B25-C74C93C40BC2}"/>
              </a:ext>
            </a:extLst>
          </p:cNvPr>
          <p:cNvSpPr txBox="1"/>
          <p:nvPr/>
        </p:nvSpPr>
        <p:spPr>
          <a:xfrm>
            <a:off x="3972493" y="1065550"/>
            <a:ext cx="2137637" cy="523220"/>
          </a:xfrm>
          <a:prstGeom prst="rect">
            <a:avLst/>
          </a:prstGeom>
          <a:noFill/>
        </p:spPr>
        <p:txBody>
          <a:bodyPr wrap="square" rtlCol="0">
            <a:spAutoFit/>
          </a:bodyPr>
          <a:lstStyle/>
          <a:p>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NHÓM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2200" b="1" dirty="0">
                <a:solidFill>
                  <a:srgbClr val="12352B"/>
                </a:solidFill>
                <a:latin typeface="Cambria" pitchFamily="34" charset="0"/>
                <a:ea typeface="Cambria" pitchFamily="34" charset="-122"/>
                <a:cs typeface="Cambria" pitchFamily="34" charset="-120"/>
              </a:rPr>
              <a:t>Bài toán quản lý điện thoại: Vì sao kết hợp BST + SLL?</a:t>
            </a:r>
            <a:endParaRPr lang="en-US" sz="2200" dirty="0"/>
          </a:p>
        </p:txBody>
      </p:sp>
      <p:sp>
        <p:nvSpPr>
          <p:cNvPr id="3" name="Text 1"/>
          <p:cNvSpPr txBox="1"/>
          <p:nvPr/>
        </p:nvSpPr>
        <p:spPr>
          <a:xfrm>
            <a:off x="457200" y="1051560"/>
            <a:ext cx="4133088" cy="3657600"/>
          </a:xfrm>
          <a:prstGeom prst="rect">
            <a:avLst/>
          </a:prstGeom>
          <a:noFill/>
          <a:ln/>
        </p:spPr>
        <p:txBody>
          <a:bodyPr wrap="square" lIns="0" tIns="0" rIns="0" bIns="0" rtlCol="0" anchor="t"/>
          <a:lstStyle/>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Bài toán:</a:t>
            </a:r>
            <a:r>
              <a:rPr lang="en-US" sz="1250" dirty="0">
                <a:solidFill>
                  <a:srgbClr val="1F2A24"/>
                </a:solidFill>
                <a:latin typeface="Calibri" pitchFamily="34" charset="0"/>
                <a:ea typeface="Calibri" pitchFamily="34" charset="-122"/>
                <a:cs typeface="Calibri" pitchFamily="34" charset="-120"/>
              </a:rPr>
              <a:t> quản lý bản ghi DienThoai với </a:t>
            </a:r>
            <a:r>
              <a:rPr lang="en-US" sz="1250" b="1" dirty="0">
                <a:solidFill>
                  <a:srgbClr val="1F2A24"/>
                </a:solidFill>
                <a:latin typeface="Calibri" pitchFamily="34" charset="0"/>
                <a:ea typeface="Calibri" pitchFamily="34" charset="-122"/>
                <a:cs typeface="Calibri" pitchFamily="34" charset="-120"/>
              </a:rPr>
              <a:t>14 chức năng</a:t>
            </a:r>
            <a:r>
              <a:rPr lang="en-US" sz="1250" dirty="0">
                <a:solidFill>
                  <a:srgbClr val="1F2A24"/>
                </a:solidFill>
                <a:latin typeface="Calibri" pitchFamily="34" charset="0"/>
                <a:ea typeface="Calibri" pitchFamily="34" charset="-122"/>
                <a:cs typeface="Calibri" pitchFamily="34" charset="-120"/>
              </a:rPr>
              <a:t> (đọc file, thêm, tìm, sửa, xóa, thống kê, sắp xếp, lưu file…).</a:t>
            </a:r>
            <a:endParaRPr lang="en-US" sz="1250" dirty="0"/>
          </a:p>
          <a:p>
            <a:pPr marL="152400" indent="-152400">
              <a:spcAft>
                <a:spcPts val="400"/>
              </a:spcAft>
              <a:buSzPct val="100000"/>
              <a:buChar char="•"/>
            </a:pPr>
            <a:r>
              <a:rPr lang="en-US" sz="1250" b="1" dirty="0" err="1">
                <a:solidFill>
                  <a:srgbClr val="1F2A24"/>
                </a:solidFill>
                <a:latin typeface="Calibri" pitchFamily="34" charset="0"/>
                <a:ea typeface="Calibri" pitchFamily="34" charset="-122"/>
                <a:cs typeface="Calibri" pitchFamily="34" charset="-120"/>
              </a:rPr>
              <a:t>Cây</a:t>
            </a:r>
            <a:r>
              <a:rPr lang="en-US" sz="1250" b="1" dirty="0">
                <a:solidFill>
                  <a:srgbClr val="1F2A24"/>
                </a:solidFill>
                <a:latin typeface="Calibri" pitchFamily="34" charset="0"/>
                <a:ea typeface="Calibri" pitchFamily="34" charset="-122"/>
                <a:cs typeface="Calibri" pitchFamily="34" charset="-120"/>
              </a:rPr>
              <a:t> Nhị </a:t>
            </a:r>
            <a:r>
              <a:rPr lang="en-US" sz="1250" b="1" dirty="0" err="1">
                <a:solidFill>
                  <a:srgbClr val="1F2A24"/>
                </a:solidFill>
                <a:latin typeface="Calibri" pitchFamily="34" charset="0"/>
                <a:ea typeface="Calibri" pitchFamily="34" charset="-122"/>
                <a:cs typeface="Calibri" pitchFamily="34" charset="-120"/>
              </a:rPr>
              <a:t>Phân</a:t>
            </a:r>
            <a:r>
              <a:rPr lang="en-US" sz="1250" b="1" dirty="0">
                <a:solidFill>
                  <a:srgbClr val="1F2A24"/>
                </a:solidFill>
                <a:latin typeface="Calibri" pitchFamily="34" charset="0"/>
                <a:ea typeface="Calibri" pitchFamily="34" charset="-122"/>
                <a:cs typeface="Calibri" pitchFamily="34" charset="-120"/>
              </a:rPr>
              <a:t> (BST): </a:t>
            </a:r>
            <a:r>
              <a:rPr lang="en-US" sz="1250" dirty="0" err="1">
                <a:solidFill>
                  <a:srgbClr val="1F2A24"/>
                </a:solidFill>
                <a:latin typeface="Calibri" pitchFamily="34" charset="0"/>
                <a:ea typeface="Calibri" pitchFamily="34" charset="-122"/>
                <a:cs typeface="Calibri" pitchFamily="34" charset="-120"/>
              </a:rPr>
              <a:t>khóa</a:t>
            </a:r>
            <a:r>
              <a:rPr lang="en-US" sz="1250" dirty="0">
                <a:solidFill>
                  <a:srgbClr val="1F2A24"/>
                </a:solidFill>
                <a:latin typeface="Calibri" pitchFamily="34" charset="0"/>
                <a:ea typeface="Calibri" pitchFamily="34" charset="-122"/>
                <a:cs typeface="Calibri" pitchFamily="34" charset="-120"/>
              </a:rPr>
              <a:t> maDT → chèn/tìm/xóa TB </a:t>
            </a:r>
            <a:r>
              <a:rPr lang="en-US" sz="1250" b="1" dirty="0">
                <a:solidFill>
                  <a:srgbClr val="1F2A24"/>
                </a:solidFill>
                <a:latin typeface="Calibri" pitchFamily="34" charset="0"/>
                <a:ea typeface="Calibri" pitchFamily="34" charset="-122"/>
                <a:cs typeface="Calibri" pitchFamily="34" charset="-120"/>
              </a:rPr>
              <a:t>O(log n)</a:t>
            </a:r>
            <a:r>
              <a:rPr lang="en-US" sz="1250" dirty="0">
                <a:solidFill>
                  <a:srgbClr val="1F2A24"/>
                </a:solidFill>
                <a:latin typeface="Calibri" pitchFamily="34" charset="0"/>
                <a:ea typeface="Calibri" pitchFamily="34" charset="-122"/>
                <a:cs typeface="Calibri" pitchFamily="34" charset="-120"/>
              </a:rPr>
              <a:t>; </a:t>
            </a:r>
            <a:r>
              <a:rPr lang="en-US" sz="1250" b="1" dirty="0">
                <a:solidFill>
                  <a:srgbClr val="1F2A24"/>
                </a:solidFill>
                <a:latin typeface="Calibri" pitchFamily="34" charset="0"/>
                <a:ea typeface="Calibri" pitchFamily="34" charset="-122"/>
                <a:cs typeface="Calibri" pitchFamily="34" charset="-120"/>
              </a:rPr>
              <a:t>LNR</a:t>
            </a:r>
            <a:r>
              <a:rPr lang="en-US" sz="1250" dirty="0">
                <a:solidFill>
                  <a:srgbClr val="1F2A24"/>
                </a:solidFill>
                <a:latin typeface="Calibri" pitchFamily="34" charset="0"/>
                <a:ea typeface="Calibri" pitchFamily="34" charset="-122"/>
                <a:cs typeface="Calibri" pitchFamily="34" charset="-120"/>
              </a:rPr>
              <a:t> cho danh sách tăng dần theo maDT.</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DSLK (SLL): </a:t>
            </a:r>
            <a:r>
              <a:rPr lang="en-US" sz="1250" dirty="0" err="1">
                <a:solidFill>
                  <a:srgbClr val="1F2A24"/>
                </a:solidFill>
                <a:latin typeface="Calibri" pitchFamily="34" charset="0"/>
                <a:ea typeface="Calibri" pitchFamily="34" charset="-122"/>
                <a:cs typeface="Calibri" pitchFamily="34" charset="-120"/>
              </a:rPr>
              <a:t>Tiêu</a:t>
            </a:r>
            <a:r>
              <a:rPr lang="en-US" sz="1250" dirty="0">
                <a:solidFill>
                  <a:srgbClr val="1F2A24"/>
                </a:solidFill>
                <a:latin typeface="Calibri" pitchFamily="34" charset="0"/>
                <a:ea typeface="Calibri" pitchFamily="34" charset="-122"/>
                <a:cs typeface="Calibri" pitchFamily="34" charset="-120"/>
              </a:rPr>
              <a:t> chí sắp xếp khác khóa cây nên không tổ chức lại BST; trên list chỉ hoán đổi data hoặc nối lại </a:t>
            </a:r>
            <a:r>
              <a:rPr lang="en-US" sz="1250" dirty="0" err="1">
                <a:solidFill>
                  <a:srgbClr val="1F2A24"/>
                </a:solidFill>
                <a:latin typeface="Calibri" pitchFamily="34" charset="0"/>
                <a:ea typeface="Calibri" pitchFamily="34" charset="-122"/>
                <a:cs typeface="Calibri" pitchFamily="34" charset="-120"/>
              </a:rPr>
              <a:t>pNext</a:t>
            </a:r>
            <a:r>
              <a:rPr lang="en-US" sz="1250" dirty="0">
                <a:solidFill>
                  <a:srgbClr val="1F2A24"/>
                </a:solidFill>
                <a:latin typeface="Calibri" pitchFamily="34" charset="0"/>
                <a:ea typeface="Calibri" pitchFamily="34" charset="-122"/>
                <a:cs typeface="Calibri" pitchFamily="34" charset="-120"/>
              </a:rPr>
              <a:t>.</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Nguyên tắc:</a:t>
            </a:r>
            <a:r>
              <a:rPr lang="en-US" sz="1250" dirty="0">
                <a:solidFill>
                  <a:srgbClr val="1F2A24"/>
                </a:solidFill>
                <a:latin typeface="Calibri" pitchFamily="34" charset="0"/>
                <a:ea typeface="Calibri" pitchFamily="34" charset="-122"/>
                <a:cs typeface="Calibri" pitchFamily="34" charset="-120"/>
              </a:rPr>
              <a:t> mỗi cấu trúc làm đúng thế mạnh (separation of concerns).</a:t>
            </a:r>
            <a:endParaRPr lang="en-US" sz="1250" dirty="0"/>
          </a:p>
        </p:txBody>
      </p:sp>
      <p:sp>
        <p:nvSpPr>
          <p:cNvPr id="4" name="Shape 2"/>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850" dirty="0">
                <a:solidFill>
                  <a:srgbClr val="DDEBD0"/>
                </a:solidFill>
                <a:latin typeface="Courier New" pitchFamily="34" charset="0"/>
                <a:ea typeface="Courier New" pitchFamily="34" charset="-122"/>
                <a:cs typeface="Courier New" pitchFamily="34" charset="-120"/>
              </a:rPr>
              <a:t>┌───────────┐ chuyenCaysangDSLK</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BST (Tree)│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khóa maDT │ LNR + AddTail│</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 List (SLL)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  bản sao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 SoSanhUuTien</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 Selection / Insertion / Merge</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 DS đã sắp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 đa tiêu chí│</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DDEBD0"/>
                </a:solidFill>
                <a:latin typeface="Courier New" pitchFamily="34" charset="0"/>
                <a:ea typeface="Courier New" pitchFamily="34" charset="-122"/>
                <a:cs typeface="Courier New" pitchFamily="34" charset="-120"/>
              </a:rPr>
              <a:t>Insert/Search/Delete: O(log n) TB, O(n) xấu nhất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2200" b="1" dirty="0">
                <a:solidFill>
                  <a:srgbClr val="12352B"/>
                </a:solidFill>
                <a:latin typeface="Cambria" pitchFamily="34" charset="0"/>
                <a:ea typeface="Cambria" pitchFamily="34" charset="-122"/>
                <a:cs typeface="Cambria" pitchFamily="34" charset="-120"/>
              </a:rPr>
              <a:t>Thiết kế cấu trúc dữ liệu: DienThoai, Node/Tree, NodeList/List</a:t>
            </a:r>
            <a:endParaRPr lang="en-US" sz="2200" dirty="0"/>
          </a:p>
        </p:txBody>
      </p:sp>
      <p:sp>
        <p:nvSpPr>
          <p:cNvPr id="3" name="Text 1"/>
          <p:cNvSpPr txBox="1"/>
          <p:nvPr/>
        </p:nvSpPr>
        <p:spPr>
          <a:xfrm>
            <a:off x="457200" y="1051560"/>
            <a:ext cx="4023360" cy="3657600"/>
          </a:xfrm>
          <a:prstGeom prst="rect">
            <a:avLst/>
          </a:prstGeom>
          <a:noFill/>
          <a:ln/>
        </p:spPr>
        <p:txBody>
          <a:bodyPr wrap="square" lIns="0" tIns="0" rIns="0" bIns="0" rtlCol="0" anchor="t"/>
          <a:lstStyle/>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DienThoai:</a:t>
            </a:r>
            <a:r>
              <a:rPr lang="en-US" sz="1250" dirty="0">
                <a:solidFill>
                  <a:srgbClr val="1F2A24"/>
                </a:solidFill>
                <a:latin typeface="Calibri" pitchFamily="34" charset="0"/>
                <a:ea typeface="Calibri" pitchFamily="34" charset="-122"/>
                <a:cs typeface="Calibri" pitchFamily="34" charset="-120"/>
              </a:rPr>
              <a:t> maDT[15] (</a:t>
            </a:r>
            <a:r>
              <a:rPr lang="en-US" sz="1250" b="1" dirty="0">
                <a:solidFill>
                  <a:srgbClr val="1F2A24"/>
                </a:solidFill>
                <a:latin typeface="Calibri" pitchFamily="34" charset="0"/>
                <a:ea typeface="Calibri" pitchFamily="34" charset="-122"/>
                <a:cs typeface="Calibri" pitchFamily="34" charset="-120"/>
              </a:rPr>
              <a:t>khóa chính BST</a:t>
            </a:r>
            <a:r>
              <a:rPr lang="en-US" sz="1250" dirty="0">
                <a:solidFill>
                  <a:srgbClr val="1F2A24"/>
                </a:solidFill>
                <a:latin typeface="Calibri" pitchFamily="34" charset="0"/>
                <a:ea typeface="Calibri" pitchFamily="34" charset="-122"/>
                <a:cs typeface="Calibri" pitchFamily="34" charset="-120"/>
              </a:rPr>
              <a:t>), tenDT[30], hangDT[20], namSX, giaBan, tinhTrang.</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tinhTrang</a:t>
            </a:r>
            <a:r>
              <a:rPr lang="en-US" sz="1250" dirty="0">
                <a:solidFill>
                  <a:srgbClr val="1F2A24"/>
                </a:solidFill>
                <a:latin typeface="Calibri" pitchFamily="34" charset="0"/>
                <a:ea typeface="Calibri" pitchFamily="34" charset="-122"/>
                <a:cs typeface="Calibri" pitchFamily="34" charset="-120"/>
              </a:rPr>
              <a:t> kiểu </a:t>
            </a:r>
            <a:r>
              <a:rPr lang="en-US" sz="1250" b="1" dirty="0">
                <a:solidFill>
                  <a:srgbClr val="1F2A24"/>
                </a:solidFill>
                <a:latin typeface="Calibri" pitchFamily="34" charset="0"/>
                <a:ea typeface="Calibri" pitchFamily="34" charset="-122"/>
                <a:cs typeface="Calibri" pitchFamily="34" charset="-120"/>
              </a:rPr>
              <a:t>bool</a:t>
            </a:r>
            <a:r>
              <a:rPr lang="en-US" sz="1250" dirty="0">
                <a:solidFill>
                  <a:srgbClr val="1F2A24"/>
                </a:solidFill>
                <a:latin typeface="Calibri" pitchFamily="34" charset="0"/>
                <a:ea typeface="Calibri" pitchFamily="34" charset="-122"/>
                <a:cs typeface="Calibri" pitchFamily="34" charset="-120"/>
              </a:rPr>
              <a:t>: 1 = Đã bán, 0 = Tồn kho (file ghi 0/1, DocTuFile đọc tt == 1).</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Cây:</a:t>
            </a:r>
            <a:r>
              <a:rPr lang="en-US" sz="1250" dirty="0">
                <a:solidFill>
                  <a:srgbClr val="1F2A24"/>
                </a:solidFill>
                <a:latin typeface="Calibri" pitchFamily="34" charset="0"/>
                <a:ea typeface="Calibri" pitchFamily="34" charset="-122"/>
                <a:cs typeface="Calibri" pitchFamily="34" charset="-120"/>
              </a:rPr>
              <a:t> struct tagNode với left, right; typedef tagNode Node; typedef Node* Tree;</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DSLK:</a:t>
            </a:r>
            <a:r>
              <a:rPr lang="en-US" sz="1250" dirty="0">
                <a:solidFill>
                  <a:srgbClr val="1F2A24"/>
                </a:solidFill>
                <a:latin typeface="Calibri" pitchFamily="34" charset="0"/>
                <a:ea typeface="Calibri" pitchFamily="34" charset="-122"/>
                <a:cs typeface="Calibri" pitchFamily="34" charset="-120"/>
              </a:rPr>
              <a:t> NodeList (data, pNext) và List (pHead, pTail) → </a:t>
            </a:r>
            <a:r>
              <a:rPr lang="en-US" sz="1250" b="1" dirty="0">
                <a:solidFill>
                  <a:srgbClr val="1F2A24"/>
                </a:solidFill>
                <a:latin typeface="Calibri" pitchFamily="34" charset="0"/>
                <a:ea typeface="Calibri" pitchFamily="34" charset="-122"/>
                <a:cs typeface="Calibri" pitchFamily="34" charset="-120"/>
              </a:rPr>
              <a:t>AddTail O(1)</a:t>
            </a:r>
            <a:r>
              <a:rPr lang="en-US" sz="1250" dirty="0">
                <a:solidFill>
                  <a:srgbClr val="1F2A24"/>
                </a:solidFill>
                <a:latin typeface="Calibri" pitchFamily="34" charset="0"/>
                <a:ea typeface="Calibri" pitchFamily="34" charset="-122"/>
                <a:cs typeface="Calibri" pitchFamily="34" charset="-120"/>
              </a:rPr>
              <a:t>.</a:t>
            </a:r>
            <a:endParaRPr lang="en-US" sz="1250" dirty="0"/>
          </a:p>
          <a:p>
            <a:pPr marL="152400" indent="-1524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Hai loại node dùng chung kiểu DienThoai → chép cây → list rất gọn.</a:t>
            </a:r>
            <a:endParaRPr lang="en-US" sz="1250" dirty="0"/>
          </a:p>
        </p:txBody>
      </p:sp>
      <p:sp>
        <p:nvSpPr>
          <p:cNvPr id="4" name="Shape 2"/>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900" dirty="0">
                <a:solidFill>
                  <a:srgbClr val="DDEBD0"/>
                </a:solidFill>
                <a:latin typeface="Courier New" pitchFamily="34" charset="0"/>
                <a:ea typeface="Courier New" pitchFamily="34" charset="-122"/>
                <a:cs typeface="Courier New" pitchFamily="34" charset="-120"/>
              </a:rPr>
              <a:t>struct DienThoai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char   maDT[15];   // khóa chính BST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char   tenDT[30];</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char   hangDT[20];</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int    namSX;</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double giaBan;</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bool   tinhTrang;  // 1: Đã bán, 0: Tồn kho</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struct tagNode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DienThoai data;</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tagNode* left;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tagNode* right;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typedef tagNode Node;</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typedef Node* Tree;</a:t>
            </a:r>
            <a:endParaRPr lang="en-US" sz="900" dirty="0"/>
          </a:p>
          <a:p>
            <a:pPr marL="0" indent="0">
              <a:buNone/>
            </a:pP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struct NodeList { DienThoai data; NodeList* pNext;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struct List     { NodeList* pHead; NodeList* pTail; };</a:t>
            </a:r>
            <a:endParaRPr lang="en-US" sz="900" dirty="0"/>
          </a:p>
          <a:p>
            <a:pPr marL="0" indent="0">
              <a:buNone/>
            </a:pP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Node:     [ left | data | right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NodeList: [ data | pNext ]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2000" b="1" dirty="0">
                <a:solidFill>
                  <a:srgbClr val="12352B"/>
                </a:solidFill>
                <a:latin typeface="Cambria" pitchFamily="34" charset="0"/>
                <a:ea typeface="Cambria" pitchFamily="34" charset="-122"/>
                <a:cs typeface="Cambria" pitchFamily="34" charset="-120"/>
              </a:rPr>
              <a:t>Cây BST từ 15 bản ghi mẫu, duyệt NLR–LNR–RLN &amp; XuatSoDoCayVaoFile</a:t>
            </a:r>
            <a:endParaRPr lang="en-US" sz="2000" dirty="0"/>
          </a:p>
        </p:txBody>
      </p:sp>
      <p:sp>
        <p:nvSpPr>
          <p:cNvPr id="3" name="Text 1"/>
          <p:cNvSpPr txBox="1"/>
          <p:nvPr/>
        </p:nvSpPr>
        <p:spPr>
          <a:xfrm>
            <a:off x="457200" y="1051560"/>
            <a:ext cx="4023360" cy="160020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Nạp</a:t>
            </a:r>
            <a:r>
              <a:rPr lang="en-US" sz="1050" dirty="0">
                <a:solidFill>
                  <a:srgbClr val="1F2A24"/>
                </a:solidFill>
                <a:latin typeface="Calibri" pitchFamily="34" charset="0"/>
                <a:ea typeface="Calibri" pitchFamily="34" charset="-122"/>
                <a:cs typeface="Calibri" pitchFamily="34" charset="-120"/>
              </a:rPr>
              <a:t> 15 bản ghi đầu DienThoai.txt qua DocTuFile + InsertNode: DT025 (gốc), 012, 037, 001, 049, 018, 005, 031, 043, 009, 020, 014, 003, 040, 028.</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Duyet_LNR</a:t>
            </a:r>
            <a:r>
              <a:rPr lang="en-US" sz="1050" dirty="0">
                <a:solidFill>
                  <a:srgbClr val="1F2A24"/>
                </a:solidFill>
                <a:latin typeface="Calibri" pitchFamily="34" charset="0"/>
                <a:ea typeface="Calibri" pitchFamily="34" charset="-122"/>
                <a:cs typeface="Calibri" pitchFamily="34" charset="-120"/>
              </a:rPr>
              <a:t> → tăng dần theo maDT. </a:t>
            </a:r>
            <a:r>
              <a:rPr lang="en-US" sz="1050" b="1" dirty="0">
                <a:solidFill>
                  <a:srgbClr val="1F2A24"/>
                </a:solidFill>
                <a:latin typeface="Calibri" pitchFamily="34" charset="0"/>
                <a:ea typeface="Calibri" pitchFamily="34" charset="-122"/>
                <a:cs typeface="Calibri" pitchFamily="34" charset="-120"/>
              </a:rPr>
              <a:t>Duyet_NLR:</a:t>
            </a:r>
            <a:r>
              <a:rPr lang="en-US" sz="1050" dirty="0">
                <a:solidFill>
                  <a:srgbClr val="1F2A24"/>
                </a:solidFill>
                <a:latin typeface="Calibri" pitchFamily="34" charset="0"/>
                <a:ea typeface="Calibri" pitchFamily="34" charset="-122"/>
                <a:cs typeface="Calibri" pitchFamily="34" charset="-120"/>
              </a:rPr>
              <a:t> gốc trước. </a:t>
            </a:r>
            <a:r>
              <a:rPr lang="en-US" sz="1050" b="1" dirty="0">
                <a:solidFill>
                  <a:srgbClr val="1F2A24"/>
                </a:solidFill>
                <a:latin typeface="Calibri" pitchFamily="34" charset="0"/>
                <a:ea typeface="Calibri" pitchFamily="34" charset="-122"/>
                <a:cs typeface="Calibri" pitchFamily="34" charset="-120"/>
              </a:rPr>
              <a:t>Duyet_RLN:</a:t>
            </a:r>
            <a:r>
              <a:rPr lang="en-US" sz="1050" dirty="0">
                <a:solidFill>
                  <a:srgbClr val="1F2A24"/>
                </a:solidFill>
                <a:latin typeface="Calibri" pitchFamily="34" charset="0"/>
                <a:ea typeface="Calibri" pitchFamily="34" charset="-122"/>
                <a:cs typeface="Calibri" pitchFamily="34" charset="-120"/>
              </a:rPr>
              <a:t> Phải→Trái→Gốc (không phải giảm dần). Mỗi phép duyệt </a:t>
            </a:r>
            <a:r>
              <a:rPr lang="en-US" sz="1050" b="1" dirty="0">
                <a:solidFill>
                  <a:srgbClr val="1F2A24"/>
                </a:solidFill>
                <a:latin typeface="Calibri" pitchFamily="34" charset="0"/>
                <a:ea typeface="Calibri" pitchFamily="34" charset="-122"/>
                <a:cs typeface="Calibri" pitchFamily="34" charset="-120"/>
              </a:rPr>
              <a:t>O(n)</a:t>
            </a:r>
            <a:r>
              <a:rPr lang="en-US" sz="1050" dirty="0">
                <a:solidFill>
                  <a:srgbClr val="1F2A24"/>
                </a:solidFill>
                <a:latin typeface="Calibri" pitchFamily="34" charset="0"/>
                <a:ea typeface="Calibri" pitchFamily="34" charset="-122"/>
                <a:cs typeface="Calibri" pitchFamily="34" charset="-120"/>
              </a:rPr>
              <a:t>.</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XuatSoDoCayVaoFile</a:t>
            </a:r>
            <a:r>
              <a:rPr lang="en-US" sz="1050" dirty="0">
                <a:solidFill>
                  <a:srgbClr val="1F2A24"/>
                </a:solidFill>
                <a:latin typeface="Calibri" pitchFamily="34" charset="0"/>
                <a:ea typeface="Calibri" pitchFamily="34" charset="-122"/>
                <a:cs typeface="Calibri" pitchFamily="34" charset="-120"/>
              </a:rPr>
              <a:t> (GhiNhanhCay2DFile): ghi cây con </a:t>
            </a:r>
            <a:r>
              <a:rPr lang="en-US" sz="1050" b="1" dirty="0">
                <a:solidFill>
                  <a:srgbClr val="1F2A24"/>
                </a:solidFill>
                <a:latin typeface="Calibri" pitchFamily="34" charset="0"/>
                <a:ea typeface="Calibri" pitchFamily="34" charset="-122"/>
                <a:cs typeface="Calibri" pitchFamily="34" charset="-120"/>
              </a:rPr>
              <a:t>phải trước, trái sau</a:t>
            </a:r>
            <a:r>
              <a:rPr lang="en-US" sz="1050" dirty="0">
                <a:solidFill>
                  <a:srgbClr val="1F2A24"/>
                </a:solidFill>
                <a:latin typeface="Calibri" pitchFamily="34" charset="0"/>
                <a:ea typeface="Calibri" pitchFamily="34" charset="-122"/>
                <a:cs typeface="Calibri" pitchFamily="34" charset="-120"/>
              </a:rPr>
              <a:t>.</a:t>
            </a:r>
            <a:endParaRPr lang="en-US" sz="1050" dirty="0"/>
          </a:p>
        </p:txBody>
      </p:sp>
      <p:sp>
        <p:nvSpPr>
          <p:cNvPr id="4" name="Shape 2"/>
          <p:cNvSpPr/>
          <p:nvPr/>
        </p:nvSpPr>
        <p:spPr>
          <a:xfrm>
            <a:off x="457200" y="2724912"/>
            <a:ext cx="4023360" cy="2121408"/>
          </a:xfrm>
          <a:prstGeom prst="roundRect">
            <a:avLst>
              <a:gd name="adj" fmla="val 3448"/>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530352" y="2770632"/>
            <a:ext cx="3877056" cy="2029968"/>
          </a:xfrm>
          <a:prstGeom prst="rect">
            <a:avLst/>
          </a:prstGeom>
          <a:noFill/>
          <a:ln/>
        </p:spPr>
        <p:txBody>
          <a:bodyPr wrap="square" lIns="0" tIns="0" rIns="0" bIns="0" rtlCol="0" anchor="t"/>
          <a:lstStyle/>
          <a:p>
            <a:pPr marL="0" indent="0">
              <a:buNone/>
            </a:pPr>
            <a:r>
              <a:rPr lang="en-US" sz="750" dirty="0">
                <a:solidFill>
                  <a:srgbClr val="DDEBD0"/>
                </a:solidFill>
                <a:latin typeface="Courier New" pitchFamily="34" charset="0"/>
                <a:ea typeface="Courier New" pitchFamily="34" charset="-122"/>
                <a:cs typeface="Courier New" pitchFamily="34" charset="-120"/>
              </a:rPr>
              <a:t>              DT025</a:t>
            </a:r>
          </a:p>
          <a:p>
            <a:pPr marL="0" indent="0">
              <a:buNone/>
            </a:pPr>
            <a:r>
              <a:rPr lang="en-US" sz="750" dirty="0">
                <a:solidFill>
                  <a:srgbClr val="DDEBD0"/>
                </a:solidFill>
                <a:latin typeface="Courier New" pitchFamily="34" charset="0"/>
                <a:cs typeface="Courier New" pitchFamily="34" charset="-120"/>
              </a:rPr>
              <a:t>          /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DT012              DT037</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DT001   DT018      DT031   DT049</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       /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DT005 DT014 DT020 DT028 DT043</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DT003 DT009            DT040</a:t>
            </a:r>
            <a:endParaRPr lang="en-US" sz="750" dirty="0"/>
          </a:p>
        </p:txBody>
      </p:sp>
      <p:sp>
        <p:nvSpPr>
          <p:cNvPr id="6" name="Shape 4"/>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7" name="Text 5"/>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750" dirty="0">
                <a:solidFill>
                  <a:srgbClr val="DDEBD0"/>
                </a:solidFill>
                <a:latin typeface="Courier New" pitchFamily="34" charset="0"/>
                <a:ea typeface="Courier New" pitchFamily="34" charset="-122"/>
                <a:cs typeface="Courier New" pitchFamily="34" charset="-120"/>
              </a:rPr>
              <a:t>NLR: 025 012 001 005 003 009 018 014 020 037</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031 028 049 043 040</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LNR: 001 003 005 009 012 014 018 020 025 028</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031 037 040 043 049   &lt;- tăng dần</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RLN: 040 043 049 028 031 037 020 014 018 009</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003 005 001 012 025</a:t>
            </a:r>
            <a:endParaRPr lang="en-US" sz="750" dirty="0"/>
          </a:p>
          <a:p>
            <a:pPr marL="0" indent="0">
              <a:buNone/>
            </a:pP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File sơ đồ 2D (kết quả chạy thật):</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(R) DT049</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(L) DT043</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(L) DT040</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(R) DT037</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(L) DT031</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(L) DT028</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[GOC] DT025</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(R) DT020</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(R) DT018</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 (L) DT014</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(L) DT012</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(R) DT009</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(R) DT005</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   \--- (L) DT003</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(L) DT001</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2200" b="1" dirty="0">
                <a:solidFill>
                  <a:srgbClr val="12352B"/>
                </a:solidFill>
                <a:latin typeface="Cambria" pitchFamily="34" charset="0"/>
                <a:ea typeface="Cambria" pitchFamily="34" charset="-122"/>
                <a:cs typeface="Cambria" pitchFamily="34" charset="-120"/>
              </a:rPr>
              <a:t>Kỹ thuật cốt lõi 1: InsertNode và TimKiemTheoMa theo khóa maDT</a:t>
            </a:r>
            <a:endParaRPr lang="en-US" sz="2200" dirty="0"/>
          </a:p>
        </p:txBody>
      </p:sp>
      <p:sp>
        <p:nvSpPr>
          <p:cNvPr id="3" name="Text 1"/>
          <p:cNvSpPr txBox="1"/>
          <p:nvPr/>
        </p:nvSpPr>
        <p:spPr>
          <a:xfrm>
            <a:off x="457200" y="1051560"/>
            <a:ext cx="4023360" cy="3657600"/>
          </a:xfrm>
          <a:prstGeom prst="rect">
            <a:avLst/>
          </a:prstGeom>
          <a:noFill/>
          <a:ln/>
        </p:spPr>
        <p:txBody>
          <a:bodyPr wrap="square" lIns="0" tIns="0" rIns="0" bIns="0" rtlCol="0" anchor="t"/>
          <a:lstStyle/>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Tìm:</a:t>
            </a:r>
            <a:r>
              <a:rPr lang="en-US" sz="1250" dirty="0">
                <a:solidFill>
                  <a:srgbClr val="1F2A24"/>
                </a:solidFill>
                <a:latin typeface="Calibri" pitchFamily="34" charset="0"/>
                <a:ea typeface="Calibri" pitchFamily="34" charset="-122"/>
                <a:cs typeface="Calibri" pitchFamily="34" charset="-120"/>
              </a:rPr>
              <a:t> strcmp(ma, root-&gt;data.maDT) → bằng: trả node; nhỏ: đi left; lớn: đi right; gặp NULL: không thấy.</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Chèn:</a:t>
            </a:r>
            <a:r>
              <a:rPr lang="en-US" sz="1250" dirty="0">
                <a:solidFill>
                  <a:srgbClr val="1F2A24"/>
                </a:solidFill>
                <a:latin typeface="Calibri" pitchFamily="34" charset="0"/>
                <a:ea typeface="Calibri" pitchFamily="34" charset="-122"/>
                <a:cs typeface="Calibri" pitchFamily="34" charset="-120"/>
              </a:rPr>
              <a:t> đi đến vị trí NULL → CreateNode, luôn chèn ở </a:t>
            </a:r>
            <a:r>
              <a:rPr lang="en-US" sz="1250" b="1" dirty="0">
                <a:solidFill>
                  <a:srgbClr val="1F2A24"/>
                </a:solidFill>
                <a:latin typeface="Calibri" pitchFamily="34" charset="0"/>
                <a:ea typeface="Calibri" pitchFamily="34" charset="-122"/>
                <a:cs typeface="Calibri" pitchFamily="34" charset="-120"/>
              </a:rPr>
              <a:t>lá</a:t>
            </a:r>
            <a:r>
              <a:rPr lang="en-US" sz="1250" dirty="0">
                <a:solidFill>
                  <a:srgbClr val="1F2A24"/>
                </a:solidFill>
                <a:latin typeface="Calibri" pitchFamily="34" charset="0"/>
                <a:ea typeface="Calibri" pitchFamily="34" charset="-122"/>
                <a:cs typeface="Calibri" pitchFamily="34" charset="-120"/>
              </a:rPr>
              <a:t>. Trùng mã → </a:t>
            </a:r>
            <a:r>
              <a:rPr lang="en-US" sz="1250" b="1" dirty="0">
                <a:solidFill>
                  <a:srgbClr val="1F2A24"/>
                </a:solidFill>
                <a:latin typeface="Calibri" pitchFamily="34" charset="0"/>
                <a:ea typeface="Calibri" pitchFamily="34" charset="-122"/>
                <a:cs typeface="Calibri" pitchFamily="34" charset="-120"/>
              </a:rPr>
              <a:t>trả 0</a:t>
            </a:r>
            <a:r>
              <a:rPr lang="en-US" sz="1250" dirty="0">
                <a:solidFill>
                  <a:srgbClr val="1F2A24"/>
                </a:solidFill>
                <a:latin typeface="Calibri" pitchFamily="34" charset="0"/>
                <a:ea typeface="Calibri" pitchFamily="34" charset="-122"/>
                <a:cs typeface="Calibri" pitchFamily="34" charset="-120"/>
              </a:rPr>
              <a:t>, không chèn.</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O(h):</a:t>
            </a:r>
            <a:r>
              <a:rPr lang="en-US" sz="1250" dirty="0">
                <a:solidFill>
                  <a:srgbClr val="1F2A24"/>
                </a:solidFill>
                <a:latin typeface="Calibri" pitchFamily="34" charset="0"/>
                <a:ea typeface="Calibri" pitchFamily="34" charset="-122"/>
                <a:cs typeface="Calibri" pitchFamily="34" charset="-120"/>
              </a:rPr>
              <a:t> TB </a:t>
            </a:r>
            <a:r>
              <a:rPr lang="en-US" sz="1250" b="1" dirty="0">
                <a:solidFill>
                  <a:srgbClr val="1F2A24"/>
                </a:solidFill>
                <a:latin typeface="Calibri" pitchFamily="34" charset="0"/>
                <a:ea typeface="Calibri" pitchFamily="34" charset="-122"/>
                <a:cs typeface="Calibri" pitchFamily="34" charset="-120"/>
              </a:rPr>
              <a:t>O(log n)</a:t>
            </a:r>
            <a:r>
              <a:rPr lang="en-US" sz="1250" dirty="0">
                <a:solidFill>
                  <a:srgbClr val="1F2A24"/>
                </a:solidFill>
                <a:latin typeface="Calibri" pitchFamily="34" charset="0"/>
                <a:ea typeface="Calibri" pitchFamily="34" charset="-122"/>
                <a:cs typeface="Calibri" pitchFamily="34" charset="-120"/>
              </a:rPr>
              <a:t>, xấu nhất </a:t>
            </a:r>
            <a:r>
              <a:rPr lang="en-US" sz="1250" b="1" dirty="0">
                <a:solidFill>
                  <a:srgbClr val="1F2A24"/>
                </a:solidFill>
                <a:latin typeface="Calibri" pitchFamily="34" charset="0"/>
                <a:ea typeface="Calibri" pitchFamily="34" charset="-122"/>
                <a:cs typeface="Calibri" pitchFamily="34" charset="-120"/>
              </a:rPr>
              <a:t>O(n)</a:t>
            </a:r>
            <a:r>
              <a:rPr lang="en-US" sz="1250" dirty="0">
                <a:solidFill>
                  <a:srgbClr val="1F2A24"/>
                </a:solidFill>
                <a:latin typeface="Calibri" pitchFamily="34" charset="0"/>
                <a:ea typeface="Calibri" pitchFamily="34" charset="-122"/>
                <a:cs typeface="Calibri" pitchFamily="34" charset="-120"/>
              </a:rPr>
              <a:t>. Tìm theo tên/hãng/năm phải duyệt LNR toàn cây </a:t>
            </a:r>
            <a:r>
              <a:rPr lang="en-US" sz="1250" b="1" dirty="0">
                <a:solidFill>
                  <a:srgbClr val="1F2A24"/>
                </a:solidFill>
                <a:latin typeface="Calibri" pitchFamily="34" charset="0"/>
                <a:ea typeface="Calibri" pitchFamily="34" charset="-122"/>
                <a:cs typeface="Calibri" pitchFamily="34" charset="-120"/>
              </a:rPr>
              <a:t>O(n)</a:t>
            </a:r>
            <a:r>
              <a:rPr lang="en-US" sz="1250" dirty="0">
                <a:solidFill>
                  <a:srgbClr val="1F2A24"/>
                </a:solidFill>
                <a:latin typeface="Calibri" pitchFamily="34" charset="0"/>
                <a:ea typeface="Calibri" pitchFamily="34" charset="-122"/>
                <a:cs typeface="Calibri" pitchFamily="34" charset="-120"/>
              </a:rPr>
              <a:t>.</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Ví dụ:</a:t>
            </a:r>
            <a:r>
              <a:rPr lang="en-US" sz="1250" dirty="0">
                <a:solidFill>
                  <a:srgbClr val="1F2A24"/>
                </a:solidFill>
                <a:latin typeface="Calibri" pitchFamily="34" charset="0"/>
                <a:ea typeface="Calibri" pitchFamily="34" charset="-122"/>
                <a:cs typeface="Calibri" pitchFamily="34" charset="-120"/>
              </a:rPr>
              <a:t> tìm DT018: DT025→DT012→DT018, chỉ </a:t>
            </a:r>
            <a:r>
              <a:rPr lang="en-US" sz="1250" b="1" dirty="0">
                <a:solidFill>
                  <a:srgbClr val="1F2A24"/>
                </a:solidFill>
                <a:latin typeface="Calibri" pitchFamily="34" charset="0"/>
                <a:ea typeface="Calibri" pitchFamily="34" charset="-122"/>
                <a:cs typeface="Calibri" pitchFamily="34" charset="-120"/>
              </a:rPr>
              <a:t>3 lần so sánh</a:t>
            </a:r>
            <a:r>
              <a:rPr lang="en-US" sz="1250" dirty="0">
                <a:solidFill>
                  <a:srgbClr val="1F2A24"/>
                </a:solidFill>
                <a:latin typeface="Calibri" pitchFamily="34" charset="0"/>
                <a:ea typeface="Calibri" pitchFamily="34" charset="-122"/>
                <a:cs typeface="Calibri" pitchFamily="34" charset="-120"/>
              </a:rPr>
              <a:t> thay vì 15. Chèn DT014: 025→012→018 → con trái của DT018.</a:t>
            </a:r>
            <a:endParaRPr lang="en-US" sz="1250" dirty="0"/>
          </a:p>
        </p:txBody>
      </p:sp>
      <p:sp>
        <p:nvSpPr>
          <p:cNvPr id="4" name="Shape 2"/>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900" dirty="0">
                <a:solidFill>
                  <a:srgbClr val="DDEBD0"/>
                </a:solidFill>
                <a:latin typeface="Courier New" pitchFamily="34" charset="0"/>
                <a:ea typeface="Courier New" pitchFamily="34" charset="-122"/>
                <a:cs typeface="Courier New" pitchFamily="34" charset="-120"/>
              </a:rPr>
              <a:t>int InsertNode(Tree&amp; root, DienThoai dt)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(root == NULL)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root = CreateNode(dt);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return (root != NULL) ? 1 : 0;</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int cmp = strcmp(dt.maDT, root-&gt;data.maDT);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(cmp == 0) return 0;      // trùng mã</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(cmp &lt; 0)  return InsertNode(root-&gt;left, dt);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return InsertNode(root-&gt;right, dt);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Node* TimKiemTheoMa(Tree root, const char* maCanTim,</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int&amp; stt)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(root == NULL) return 0;</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int cmp = strcmp(maCanTim, root-&gt;data.maDT);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(cmp == 0) return root;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else if (cmp &lt; 0)</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return TimKiemTheoMa(root-&gt;left, maCanTim, stt);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return TimKiemTheoMa(root-&gt;right, maCanTim, stt);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1900" b="1" dirty="0">
                <a:solidFill>
                  <a:srgbClr val="12352B"/>
                </a:solidFill>
                <a:latin typeface="Cambria" pitchFamily="34" charset="0"/>
                <a:ea typeface="Cambria" pitchFamily="34" charset="-122"/>
                <a:cs typeface="Cambria" pitchFamily="34" charset="-120"/>
              </a:rPr>
              <a:t>Kỹ thuật cốt lõi 2: XoaNodeTheoMa và TimNodeThayThe(Node*&amp; Xoa, Node*&amp; ThayThe)</a:t>
            </a:r>
            <a:endParaRPr lang="en-US" sz="1900" dirty="0"/>
          </a:p>
        </p:txBody>
      </p:sp>
      <p:sp>
        <p:nvSpPr>
          <p:cNvPr id="3" name="Text 1"/>
          <p:cNvSpPr txBox="1"/>
          <p:nvPr/>
        </p:nvSpPr>
        <p:spPr>
          <a:xfrm>
            <a:off x="457200" y="1051560"/>
            <a:ext cx="4023360" cy="201168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TH1 lá:</a:t>
            </a:r>
            <a:r>
              <a:rPr lang="en-US" sz="1050" dirty="0">
                <a:solidFill>
                  <a:srgbClr val="1F2A24"/>
                </a:solidFill>
                <a:latin typeface="Calibri" pitchFamily="34" charset="0"/>
                <a:ea typeface="Calibri" pitchFamily="34" charset="-122"/>
                <a:cs typeface="Calibri" pitchFamily="34" charset="-120"/>
              </a:rPr>
              <a:t> root = NULL. </a:t>
            </a:r>
            <a:r>
              <a:rPr lang="en-US" sz="1050" b="1" dirty="0">
                <a:solidFill>
                  <a:srgbClr val="1F2A24"/>
                </a:solidFill>
                <a:latin typeface="Calibri" pitchFamily="34" charset="0"/>
                <a:ea typeface="Calibri" pitchFamily="34" charset="-122"/>
                <a:cs typeface="Calibri" pitchFamily="34" charset="-120"/>
              </a:rPr>
              <a:t>TH2 một con:</a:t>
            </a:r>
            <a:r>
              <a:rPr lang="en-US" sz="1050" dirty="0">
                <a:solidFill>
                  <a:srgbClr val="1F2A24"/>
                </a:solidFill>
                <a:latin typeface="Calibri" pitchFamily="34" charset="0"/>
                <a:ea typeface="Calibri" pitchFamily="34" charset="-122"/>
                <a:cs typeface="Calibri" pitchFamily="34" charset="-120"/>
              </a:rPr>
              <a:t> root = con duy nhất. Sau đó delete.</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TH3 hai con:</a:t>
            </a:r>
            <a:r>
              <a:rPr lang="en-US" sz="1050" dirty="0">
                <a:solidFill>
                  <a:srgbClr val="1F2A24"/>
                </a:solidFill>
                <a:latin typeface="Calibri" pitchFamily="34" charset="0"/>
                <a:ea typeface="Calibri" pitchFamily="34" charset="-122"/>
                <a:cs typeface="Calibri" pitchFamily="34" charset="-120"/>
              </a:rPr>
              <a:t> TimNodeThayThe đi </a:t>
            </a:r>
            <a:r>
              <a:rPr lang="en-US" sz="1050" b="1" dirty="0">
                <a:solidFill>
                  <a:srgbClr val="1F2A24"/>
                </a:solidFill>
                <a:latin typeface="Calibri" pitchFamily="34" charset="0"/>
                <a:ea typeface="Calibri" pitchFamily="34" charset="-122"/>
                <a:cs typeface="Calibri" pitchFamily="34" charset="-120"/>
              </a:rPr>
              <a:t>cực trái</a:t>
            </a:r>
            <a:r>
              <a:rPr lang="en-US" sz="1050" dirty="0">
                <a:solidFill>
                  <a:srgbClr val="1F2A24"/>
                </a:solidFill>
                <a:latin typeface="Calibri" pitchFamily="34" charset="0"/>
                <a:ea typeface="Calibri" pitchFamily="34" charset="-122"/>
                <a:cs typeface="Calibri" pitchFamily="34" charset="-120"/>
              </a:rPr>
              <a:t> cây con phải → </a:t>
            </a:r>
            <a:r>
              <a:rPr lang="en-US" sz="1050" b="1" dirty="0">
                <a:solidFill>
                  <a:srgbClr val="1F2A24"/>
                </a:solidFill>
                <a:latin typeface="Calibri" pitchFamily="34" charset="0"/>
                <a:ea typeface="Calibri" pitchFamily="34" charset="-122"/>
                <a:cs typeface="Calibri" pitchFamily="34" charset="-120"/>
              </a:rPr>
              <a:t>ghi đè data</a:t>
            </a:r>
            <a:r>
              <a:rPr lang="en-US" sz="1050" dirty="0">
                <a:solidFill>
                  <a:srgbClr val="1F2A24"/>
                </a:solidFill>
                <a:latin typeface="Calibri" pitchFamily="34" charset="0"/>
                <a:ea typeface="Calibri" pitchFamily="34" charset="-122"/>
                <a:cs typeface="Calibri" pitchFamily="34" charset="-120"/>
              </a:rPr>
              <a:t> → Xoa = ThayThe; </a:t>
            </a:r>
            <a:r>
              <a:rPr lang="en-US" sz="1050" b="1" dirty="0">
                <a:solidFill>
                  <a:srgbClr val="1F2A24"/>
                </a:solidFill>
                <a:latin typeface="Calibri" pitchFamily="34" charset="0"/>
                <a:ea typeface="Calibri" pitchFamily="34" charset="-122"/>
                <a:cs typeface="Calibri" pitchFamily="34" charset="-120"/>
              </a:rPr>
              <a:t>ThayThe = ThayThe-&gt;right</a:t>
            </a:r>
            <a:r>
              <a:rPr lang="en-US" sz="1050" dirty="0">
                <a:solidFill>
                  <a:srgbClr val="1F2A24"/>
                </a:solidFill>
                <a:latin typeface="Calibri" pitchFamily="34" charset="0"/>
                <a:ea typeface="Calibri" pitchFamily="34" charset="-122"/>
                <a:cs typeface="Calibri" pitchFamily="34" charset="-120"/>
              </a:rPr>
              <a:t> (nối nhánh).</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Tối ưu:</a:t>
            </a:r>
            <a:r>
              <a:rPr lang="en-US" sz="1050" dirty="0">
                <a:solidFill>
                  <a:srgbClr val="1F2A24"/>
                </a:solidFill>
                <a:latin typeface="Calibri" pitchFamily="34" charset="0"/>
                <a:ea typeface="Calibri" pitchFamily="34" charset="-122"/>
                <a:cs typeface="Calibri" pitchFamily="34" charset="-120"/>
              </a:rPr>
              <a:t> tham chiếu Node*&amp; → xong trong một lượt, </a:t>
            </a:r>
            <a:r>
              <a:rPr lang="en-US" sz="1050" b="1" dirty="0">
                <a:solidFill>
                  <a:srgbClr val="1F2A24"/>
                </a:solidFill>
                <a:latin typeface="Calibri" pitchFamily="34" charset="0"/>
                <a:ea typeface="Calibri" pitchFamily="34" charset="-122"/>
                <a:cs typeface="Calibri" pitchFamily="34" charset="-120"/>
              </a:rPr>
              <a:t>không gọi lại XoaNodeTheoMa</a:t>
            </a:r>
            <a:r>
              <a:rPr lang="en-US" sz="1050" dirty="0">
                <a:solidFill>
                  <a:srgbClr val="1F2A24"/>
                </a:solidFill>
                <a:latin typeface="Calibri" pitchFamily="34" charset="0"/>
                <a:ea typeface="Calibri" pitchFamily="34" charset="-122"/>
                <a:cs typeface="Calibri" pitchFamily="34" charset="-120"/>
              </a:rPr>
              <a:t>. Độ phức tạp </a:t>
            </a:r>
            <a:r>
              <a:rPr lang="en-US" sz="1050" b="1" dirty="0">
                <a:solidFill>
                  <a:srgbClr val="1F2A24"/>
                </a:solidFill>
                <a:latin typeface="Calibri" pitchFamily="34" charset="0"/>
                <a:ea typeface="Calibri" pitchFamily="34" charset="-122"/>
                <a:cs typeface="Calibri" pitchFamily="34" charset="-120"/>
              </a:rPr>
              <a:t>O(h)</a:t>
            </a:r>
            <a:r>
              <a:rPr lang="en-US" sz="1050" dirty="0">
                <a:solidFill>
                  <a:srgbClr val="1F2A24"/>
                </a:solidFill>
                <a:latin typeface="Calibri" pitchFamily="34" charset="0"/>
                <a:ea typeface="Calibri" pitchFamily="34" charset="-122"/>
                <a:cs typeface="Calibri" pitchFamily="34" charset="-120"/>
              </a:rPr>
              <a:t>.</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Đúng vì:</a:t>
            </a:r>
            <a:r>
              <a:rPr lang="en-US" sz="1050" dirty="0">
                <a:solidFill>
                  <a:srgbClr val="1F2A24"/>
                </a:solidFill>
                <a:latin typeface="Calibri" pitchFamily="34" charset="0"/>
                <a:ea typeface="Calibri" pitchFamily="34" charset="-122"/>
                <a:cs typeface="Calibri" pitchFamily="34" charset="-120"/>
              </a:rPr>
              <a:t> cực trái cây con phải là khóa nhỏ nhất lớn hơn node bị xóa.</a:t>
            </a:r>
            <a:endParaRPr lang="en-US" sz="1050" dirty="0"/>
          </a:p>
        </p:txBody>
      </p:sp>
      <p:sp>
        <p:nvSpPr>
          <p:cNvPr id="4" name="Shape 2"/>
          <p:cNvSpPr/>
          <p:nvPr/>
        </p:nvSpPr>
        <p:spPr>
          <a:xfrm>
            <a:off x="457200" y="3136392"/>
            <a:ext cx="4023360" cy="1709928"/>
          </a:xfrm>
          <a:prstGeom prst="roundRect">
            <a:avLst>
              <a:gd name="adj" fmla="val 4278"/>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530352" y="3182112"/>
            <a:ext cx="3877056" cy="1618488"/>
          </a:xfrm>
          <a:prstGeom prst="rect">
            <a:avLst/>
          </a:prstGeom>
          <a:noFill/>
          <a:ln/>
        </p:spPr>
        <p:txBody>
          <a:bodyPr wrap="square" lIns="0" tIns="0" rIns="0" bIns="0" rtlCol="0" anchor="t"/>
          <a:lstStyle/>
          <a:p>
            <a:pPr marL="0" indent="0">
              <a:buNone/>
            </a:pPr>
            <a:r>
              <a:rPr lang="en-US" sz="700" dirty="0">
                <a:solidFill>
                  <a:srgbClr val="DDEBD0"/>
                </a:solidFill>
                <a:latin typeface="Courier New" pitchFamily="34" charset="0"/>
                <a:ea typeface="Courier New" pitchFamily="34" charset="-122"/>
                <a:cs typeface="Courier New" pitchFamily="34" charset="-120"/>
              </a:rPr>
              <a:t>Xóa DT012 (2 con), node thế mạng = DT014</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Trước:          DT012     Sau:           DT014</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     \                  /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DT001     DT018          DT001     DT018</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      /   \             \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DT005 DT014 DT020        DT005       DT020</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LNR sau xóa: 001 003 005 009 014 018 020 025 ... 049</a:t>
            </a:r>
            <a:endParaRPr lang="en-US" sz="700" dirty="0"/>
          </a:p>
        </p:txBody>
      </p:sp>
      <p:sp>
        <p:nvSpPr>
          <p:cNvPr id="6" name="Shape 4"/>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7" name="Text 5"/>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750" dirty="0">
                <a:solidFill>
                  <a:srgbClr val="DDEBD0"/>
                </a:solidFill>
                <a:latin typeface="Courier New" pitchFamily="34" charset="0"/>
                <a:ea typeface="Courier New" pitchFamily="34" charset="-122"/>
                <a:cs typeface="Courier New" pitchFamily="34" charset="-120"/>
              </a:rPr>
              <a:t>void TimNodeThayThe(Node*&amp; Xoa, Node*&amp; ThayThe)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if (ThayThe-&gt;left != NULL)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TimNodeThayThe(Xoa, ThayThe-&gt;left); // cực trái</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 else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Xoa-&gt;data = ThayThe-&gt;data;  // ghi đè dữ liệu</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Xoa = ThayThe;              // để delete node thế mạng</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ThayThe = ThayThe-&gt;right;   // nối nhánh</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int XoaNodeTheoMa(Tree&amp; root, const char* ma) {</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if (root == NULL) return 0;</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int cmp = strcmp(ma, root-&gt;data.maDT);</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if (cmp &lt; 0) return XoaNodeTheoMa(root-&gt;left, ma);</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else if (cmp &gt; 0)</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return XoaNodeTheoMa(root-&gt;right, ma);</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Node* Xoa = root;</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if (!root-&gt;left &amp;&amp; !root-&gt;right) root = NULL;</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else if (root-&gt;left == NULL)  root = root-&gt;right;</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else if (root-&gt;right == NULL) root = root-&gt;left;</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else TimNodeThayThe(Xoa, root-&gt;right); // 2 con</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delete Xoa;</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  return 1;</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2200" b="1" dirty="0">
                <a:solidFill>
                  <a:srgbClr val="12352B"/>
                </a:solidFill>
                <a:latin typeface="Cambria" pitchFamily="34" charset="0"/>
                <a:ea typeface="Cambria" pitchFamily="34" charset="-122"/>
                <a:cs typeface="Cambria" pitchFamily="34" charset="-120"/>
              </a:rPr>
              <a:t>chuyenCaysangDSLK và hàm so sánh đa tầng SoSanhUuTien</a:t>
            </a:r>
            <a:endParaRPr lang="en-US" sz="2200" dirty="0"/>
          </a:p>
        </p:txBody>
      </p:sp>
      <p:sp>
        <p:nvSpPr>
          <p:cNvPr id="3" name="Text 1"/>
          <p:cNvSpPr txBox="1"/>
          <p:nvPr/>
        </p:nvSpPr>
        <p:spPr>
          <a:xfrm>
            <a:off x="457200" y="1051560"/>
            <a:ext cx="4023360" cy="3657600"/>
          </a:xfrm>
          <a:prstGeom prst="rect">
            <a:avLst/>
          </a:prstGeom>
          <a:noFill/>
          <a:ln/>
        </p:spPr>
        <p:txBody>
          <a:bodyPr wrap="square" lIns="0" tIns="0" rIns="0" bIns="0" rtlCol="0" anchor="t"/>
          <a:lstStyle/>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Chuyển đổi:</a:t>
            </a:r>
            <a:r>
              <a:rPr lang="en-US" sz="1250" dirty="0">
                <a:solidFill>
                  <a:srgbClr val="1F2A24"/>
                </a:solidFill>
                <a:latin typeface="Calibri" pitchFamily="34" charset="0"/>
                <a:ea typeface="Calibri" pitchFamily="34" charset="-122"/>
                <a:cs typeface="Calibri" pitchFamily="34" charset="-120"/>
              </a:rPr>
              <a:t> duyệt </a:t>
            </a:r>
            <a:r>
              <a:rPr lang="en-US" sz="1250" b="1" dirty="0">
                <a:solidFill>
                  <a:srgbClr val="1F2A24"/>
                </a:solidFill>
                <a:latin typeface="Calibri" pitchFamily="34" charset="0"/>
                <a:ea typeface="Calibri" pitchFamily="34" charset="-122"/>
                <a:cs typeface="Calibri" pitchFamily="34" charset="-120"/>
              </a:rPr>
              <a:t>LNR</a:t>
            </a:r>
            <a:r>
              <a:rPr lang="en-US" sz="1250" dirty="0">
                <a:solidFill>
                  <a:srgbClr val="1F2A24"/>
                </a:solidFill>
                <a:latin typeface="Calibri" pitchFamily="34" charset="0"/>
                <a:ea typeface="Calibri" pitchFamily="34" charset="-122"/>
                <a:cs typeface="Calibri" pitchFamily="34" charset="-120"/>
              </a:rPr>
              <a:t>, mỗi node AddTail(l, root-&gt;data) → </a:t>
            </a:r>
            <a:r>
              <a:rPr lang="en-US" sz="1250" b="1" dirty="0">
                <a:solidFill>
                  <a:srgbClr val="1F2A24"/>
                </a:solidFill>
                <a:latin typeface="Calibri" pitchFamily="34" charset="0"/>
                <a:ea typeface="Calibri" pitchFamily="34" charset="-122"/>
                <a:cs typeface="Calibri" pitchFamily="34" charset="-120"/>
              </a:rPr>
              <a:t>O(n) × O(1) = O(n)</a:t>
            </a:r>
            <a:r>
              <a:rPr lang="en-US" sz="1250" dirty="0">
                <a:solidFill>
                  <a:srgbClr val="1F2A24"/>
                </a:solidFill>
                <a:latin typeface="Calibri" pitchFamily="34" charset="0"/>
                <a:ea typeface="Calibri" pitchFamily="34" charset="-122"/>
                <a:cs typeface="Calibri" pitchFamily="34" charset="-120"/>
              </a:rPr>
              <a:t>. XuLySapXep gọi RemoveAllList trước, nên list luôn dựng lại từ cây.</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SoSanhUuTien:</a:t>
            </a:r>
            <a:r>
              <a:rPr lang="en-US" sz="1250" dirty="0">
                <a:solidFill>
                  <a:srgbClr val="1F2A24"/>
                </a:solidFill>
                <a:latin typeface="Calibri" pitchFamily="34" charset="0"/>
                <a:ea typeface="Calibri" pitchFamily="34" charset="-122"/>
                <a:cs typeface="Calibri" pitchFamily="34" charset="-120"/>
              </a:rPr>
              <a:t> ① tenDT bằng </a:t>
            </a:r>
            <a:r>
              <a:rPr lang="en-US" sz="1250" b="1" dirty="0">
                <a:solidFill>
                  <a:srgbClr val="1F2A24"/>
                </a:solidFill>
                <a:latin typeface="Calibri" pitchFamily="34" charset="0"/>
                <a:ea typeface="Calibri" pitchFamily="34" charset="-122"/>
                <a:cs typeface="Calibri" pitchFamily="34" charset="-120"/>
              </a:rPr>
              <a:t>_stricmp</a:t>
            </a:r>
            <a:r>
              <a:rPr lang="en-US" sz="1250" dirty="0">
                <a:solidFill>
                  <a:srgbClr val="1F2A24"/>
                </a:solidFill>
                <a:latin typeface="Calibri" pitchFamily="34" charset="0"/>
                <a:ea typeface="Calibri" pitchFamily="34" charset="-122"/>
                <a:cs typeface="Calibri" pitchFamily="34" charset="-120"/>
              </a:rPr>
              <a:t> (không phân biệt hoa thường) ② namSX ③ giaBan ④ maDT bằng </a:t>
            </a:r>
            <a:r>
              <a:rPr lang="en-US" sz="1250" b="1" dirty="0">
                <a:solidFill>
                  <a:srgbClr val="1F2A24"/>
                </a:solidFill>
                <a:latin typeface="Calibri" pitchFamily="34" charset="0"/>
                <a:ea typeface="Calibri" pitchFamily="34" charset="-122"/>
                <a:cs typeface="Calibri" pitchFamily="34" charset="-120"/>
              </a:rPr>
              <a:t>strcmp</a:t>
            </a:r>
            <a:r>
              <a:rPr lang="en-US" sz="1250" dirty="0">
                <a:solidFill>
                  <a:srgbClr val="1F2A24"/>
                </a:solidFill>
                <a:latin typeface="Calibri" pitchFamily="34" charset="0"/>
                <a:ea typeface="Calibri" pitchFamily="34" charset="-122"/>
                <a:cs typeface="Calibri" pitchFamily="34" charset="-120"/>
              </a:rPr>
              <a:t> (phá hòa).</a:t>
            </a:r>
            <a:endParaRPr lang="en-US" sz="1250" dirty="0"/>
          </a:p>
          <a:p>
            <a:pPr marL="152400" indent="-1524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Trả về 1 / -1 / kết quả strcmp. maDT duy nhất → </a:t>
            </a:r>
            <a:r>
              <a:rPr lang="en-US" sz="1250" b="1" dirty="0">
                <a:solidFill>
                  <a:srgbClr val="1F2A24"/>
                </a:solidFill>
                <a:latin typeface="Calibri" pitchFamily="34" charset="0"/>
                <a:ea typeface="Calibri" pitchFamily="34" charset="-122"/>
                <a:cs typeface="Calibri" pitchFamily="34" charset="-120"/>
              </a:rPr>
              <a:t>thứ tự toàn phần</a:t>
            </a:r>
            <a:r>
              <a:rPr lang="en-US" sz="1250" dirty="0">
                <a:solidFill>
                  <a:srgbClr val="1F2A24"/>
                </a:solidFill>
                <a:latin typeface="Calibri" pitchFamily="34" charset="0"/>
                <a:ea typeface="Calibri" pitchFamily="34" charset="-122"/>
                <a:cs typeface="Calibri" pitchFamily="34" charset="-120"/>
              </a:rPr>
              <a:t>, kết quả xác định.</a:t>
            </a:r>
            <a:endParaRPr lang="en-US" sz="1250" dirty="0"/>
          </a:p>
          <a:p>
            <a:pPr marL="152400" indent="-152400">
              <a:spcAft>
                <a:spcPts val="400"/>
              </a:spcAft>
              <a:buSzPct val="100000"/>
              <a:buChar char="•"/>
            </a:pPr>
            <a:r>
              <a:rPr lang="en-US" sz="1250" b="1" dirty="0">
                <a:solidFill>
                  <a:srgbClr val="1F2A24"/>
                </a:solidFill>
                <a:latin typeface="Calibri" pitchFamily="34" charset="0"/>
                <a:ea typeface="Calibri" pitchFamily="34" charset="-122"/>
                <a:cs typeface="Calibri" pitchFamily="34" charset="-120"/>
              </a:rPr>
              <a:t>Ví dụ (DienThoai2.txt):</a:t>
            </a:r>
            <a:r>
              <a:rPr lang="en-US" sz="1250" dirty="0">
                <a:solidFill>
                  <a:srgbClr val="1F2A24"/>
                </a:solidFill>
                <a:latin typeface="Calibri" pitchFamily="34" charset="0"/>
                <a:ea typeface="Calibri" pitchFamily="34" charset="-122"/>
                <a:cs typeface="Calibri" pitchFamily="34" charset="-120"/>
              </a:rPr>
              <a:t> 5 máy Galaxy_A55 cùng năm 2024, cùng giá → DT004 → DT014 → DT024 → DT034 → DT044.</a:t>
            </a:r>
            <a:endParaRPr lang="en-US" sz="1250" dirty="0"/>
          </a:p>
        </p:txBody>
      </p:sp>
      <p:sp>
        <p:nvSpPr>
          <p:cNvPr id="4" name="Shape 2"/>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900" dirty="0">
                <a:solidFill>
                  <a:srgbClr val="DDEBD0"/>
                </a:solidFill>
                <a:latin typeface="Courier New" pitchFamily="34" charset="0"/>
                <a:ea typeface="Courier New" pitchFamily="34" charset="-122"/>
                <a:cs typeface="Courier New" pitchFamily="34" charset="-120"/>
              </a:rPr>
              <a:t>void chuyenCaysangDSLK(Tree root, List&amp; l)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(root != NULL)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chuyenCaysangDSLK(root-&gt;left, l);</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AddTail(l, root-&gt;data);</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chuyenCaysangDSLK(root-&gt;right, l);</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int SoSanhUuTien(DienThoai &amp;a, DienThoai &amp;b)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int cmp = _stricmp(a.tenDT, b.tenDT);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(cmp &gt; 0) return 1;</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(cmp &lt; 0) return -1;</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(a.namSX &gt; b.namSX) return 1;</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(a.namSX &lt; b.namSX) return -1;</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(a.giaBan &gt; b.giaBan) return 1;</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if (a.giaBan &lt; b.giaBan) return -1;</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return strcmp(a.maDT, b.maDT);</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Tên khác? → Năm khác? → Giá khác? → So mã</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1900" b="1" dirty="0">
                <a:solidFill>
                  <a:srgbClr val="12352B"/>
                </a:solidFill>
                <a:latin typeface="Cambria" pitchFamily="34" charset="0"/>
                <a:ea typeface="Cambria" pitchFamily="34" charset="-122"/>
                <a:cs typeface="Cambria" pitchFamily="34" charset="-120"/>
              </a:rPr>
              <a:t>Kỹ thuật cốt lõi 3: Merge Sort – TachDoiList (slow/fast) &amp; TronHaiList (vòng lặp + dummy)</a:t>
            </a:r>
            <a:endParaRPr lang="en-US" sz="1900" dirty="0"/>
          </a:p>
        </p:txBody>
      </p:sp>
      <p:sp>
        <p:nvSpPr>
          <p:cNvPr id="3" name="Text 1"/>
          <p:cNvSpPr txBox="1"/>
          <p:nvPr/>
        </p:nvSpPr>
        <p:spPr>
          <a:xfrm>
            <a:off x="457200" y="1051560"/>
            <a:ext cx="4023360" cy="210312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Chia:</a:t>
            </a:r>
            <a:r>
              <a:rPr lang="en-US" sz="1050" dirty="0">
                <a:solidFill>
                  <a:srgbClr val="1F2A24"/>
                </a:solidFill>
                <a:latin typeface="Calibri" pitchFamily="34" charset="0"/>
                <a:ea typeface="Calibri" pitchFamily="34" charset="-122"/>
                <a:cs typeface="Calibri" pitchFamily="34" charset="-120"/>
              </a:rPr>
              <a:t> slow đi 1, fast đi 2 → slow ở trung điểm → cắt </a:t>
            </a:r>
            <a:r>
              <a:rPr lang="en-US" sz="1050" b="1" dirty="0">
                <a:solidFill>
                  <a:srgbClr val="1F2A24"/>
                </a:solidFill>
                <a:latin typeface="Calibri" pitchFamily="34" charset="0"/>
                <a:ea typeface="Calibri" pitchFamily="34" charset="-122"/>
                <a:cs typeface="Calibri" pitchFamily="34" charset="-120"/>
              </a:rPr>
              <a:t>slow-&gt;pNext = NULL</a:t>
            </a:r>
            <a:r>
              <a:rPr lang="en-US" sz="1050" dirty="0">
                <a:solidFill>
                  <a:srgbClr val="1F2A24"/>
                </a:solidFill>
                <a:latin typeface="Calibri" pitchFamily="34" charset="0"/>
                <a:ea typeface="Calibri" pitchFamily="34" charset="-122"/>
                <a:cs typeface="Calibri" pitchFamily="34" charset="-120"/>
              </a:rPr>
              <a:t>.</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Trộn:</a:t>
            </a:r>
            <a:r>
              <a:rPr lang="en-US" sz="1050" dirty="0">
                <a:solidFill>
                  <a:srgbClr val="1F2A24"/>
                </a:solidFill>
                <a:latin typeface="Calibri" pitchFamily="34" charset="0"/>
                <a:ea typeface="Calibri" pitchFamily="34" charset="-122"/>
                <a:cs typeface="Calibri" pitchFamily="34" charset="-120"/>
              </a:rPr>
              <a:t> TronHaiList bằng </a:t>
            </a:r>
            <a:r>
              <a:rPr lang="en-US" sz="1050" b="1" dirty="0">
                <a:solidFill>
                  <a:srgbClr val="1F2A24"/>
                </a:solidFill>
                <a:latin typeface="Calibri" pitchFamily="34" charset="0"/>
                <a:ea typeface="Calibri" pitchFamily="34" charset="-122"/>
                <a:cs typeface="Calibri" pitchFamily="34" charset="-120"/>
              </a:rPr>
              <a:t>VÒNG LẶP</a:t>
            </a:r>
            <a:r>
              <a:rPr lang="en-US" sz="1050" dirty="0">
                <a:solidFill>
                  <a:srgbClr val="1F2A24"/>
                </a:solidFill>
                <a:latin typeface="Calibri" pitchFamily="34" charset="0"/>
                <a:ea typeface="Calibri" pitchFamily="34" charset="-122"/>
                <a:cs typeface="Calibri" pitchFamily="34" charset="-120"/>
              </a:rPr>
              <a:t>, node giả </a:t>
            </a:r>
            <a:r>
              <a:rPr lang="en-US" sz="1050" b="1" dirty="0">
                <a:solidFill>
                  <a:srgbClr val="1F2A24"/>
                </a:solidFill>
                <a:latin typeface="Calibri" pitchFamily="34" charset="0"/>
                <a:ea typeface="Calibri" pitchFamily="34" charset="-122"/>
                <a:cs typeface="Calibri" pitchFamily="34" charset="-120"/>
              </a:rPr>
              <a:t>dummy</a:t>
            </a:r>
            <a:r>
              <a:rPr lang="en-US" sz="1050" dirty="0">
                <a:solidFill>
                  <a:srgbClr val="1F2A24"/>
                </a:solidFill>
                <a:latin typeface="Calibri" pitchFamily="34" charset="0"/>
                <a:ea typeface="Calibri" pitchFamily="34" charset="-122"/>
                <a:cs typeface="Calibri" pitchFamily="34" charset="-120"/>
              </a:rPr>
              <a:t>, chỉ nối pNext → bộ nhớ phụ </a:t>
            </a:r>
            <a:r>
              <a:rPr lang="en-US" sz="1050" b="1" dirty="0">
                <a:solidFill>
                  <a:srgbClr val="1F2A24"/>
                </a:solidFill>
                <a:latin typeface="Calibri" pitchFamily="34" charset="0"/>
                <a:ea typeface="Calibri" pitchFamily="34" charset="-122"/>
                <a:cs typeface="Calibri" pitchFamily="34" charset="-120"/>
              </a:rPr>
              <a:t>O(1)</a:t>
            </a:r>
            <a:r>
              <a:rPr lang="en-US" sz="1050" dirty="0">
                <a:solidFill>
                  <a:srgbClr val="1F2A24"/>
                </a:solidFill>
                <a:latin typeface="Calibri" pitchFamily="34" charset="0"/>
                <a:ea typeface="Calibri" pitchFamily="34" charset="-122"/>
                <a:cs typeface="Calibri" pitchFamily="34" charset="-120"/>
              </a:rPr>
              <a:t>. Điều kiện &lt;= 0 giữ </a:t>
            </a:r>
            <a:r>
              <a:rPr lang="en-US" sz="1050" b="1" dirty="0">
                <a:solidFill>
                  <a:srgbClr val="1F2A24"/>
                </a:solidFill>
                <a:latin typeface="Calibri" pitchFamily="34" charset="0"/>
                <a:ea typeface="Calibri" pitchFamily="34" charset="-122"/>
                <a:cs typeface="Calibri" pitchFamily="34" charset="-120"/>
              </a:rPr>
              <a:t>ổn định</a:t>
            </a:r>
            <a:r>
              <a:rPr lang="en-US" sz="1050" dirty="0">
                <a:solidFill>
                  <a:srgbClr val="1F2A24"/>
                </a:solidFill>
                <a:latin typeface="Calibri" pitchFamily="34" charset="0"/>
                <a:ea typeface="Calibri" pitchFamily="34" charset="-122"/>
                <a:cs typeface="Calibri" pitchFamily="34" charset="-120"/>
              </a:rPr>
              <a:t>.</a:t>
            </a:r>
            <a:endParaRPr lang="en-US" sz="1050" dirty="0"/>
          </a:p>
          <a:p>
            <a:pPr marL="152400" indent="-152400">
              <a:spcAft>
                <a:spcPts val="400"/>
              </a:spcAft>
              <a:buSzPct val="100000"/>
              <a:buChar char="•"/>
            </a:pPr>
            <a:r>
              <a:rPr lang="en-US" sz="1050" dirty="0">
                <a:solidFill>
                  <a:srgbClr val="1F2A24"/>
                </a:solidFill>
                <a:latin typeface="Calibri" pitchFamily="34" charset="0"/>
                <a:ea typeface="Calibri" pitchFamily="34" charset="-122"/>
                <a:cs typeface="Calibri" pitchFamily="34" charset="-120"/>
              </a:rPr>
              <a:t>MergeSort_List cập nhật </a:t>
            </a:r>
            <a:r>
              <a:rPr lang="en-US" sz="1050" b="1" dirty="0">
                <a:solidFill>
                  <a:srgbClr val="1F2A24"/>
                </a:solidFill>
                <a:latin typeface="Calibri" pitchFamily="34" charset="0"/>
                <a:ea typeface="Calibri" pitchFamily="34" charset="-122"/>
                <a:cs typeface="Calibri" pitchFamily="34" charset="-120"/>
              </a:rPr>
              <a:t>pTail</a:t>
            </a:r>
            <a:r>
              <a:rPr lang="en-US" sz="1050" dirty="0">
                <a:solidFill>
                  <a:srgbClr val="1F2A24"/>
                </a:solidFill>
                <a:latin typeface="Calibri" pitchFamily="34" charset="0"/>
                <a:ea typeface="Calibri" pitchFamily="34" charset="-122"/>
                <a:cs typeface="Calibri" pitchFamily="34" charset="-120"/>
              </a:rPr>
              <a:t>. Thời gian </a:t>
            </a:r>
            <a:r>
              <a:rPr lang="en-US" sz="1050" b="1" dirty="0">
                <a:solidFill>
                  <a:srgbClr val="1F2A24"/>
                </a:solidFill>
                <a:latin typeface="Calibri" pitchFamily="34" charset="0"/>
                <a:ea typeface="Calibri" pitchFamily="34" charset="-122"/>
                <a:cs typeface="Calibri" pitchFamily="34" charset="-120"/>
              </a:rPr>
              <a:t>O(n log n)</a:t>
            </a:r>
            <a:r>
              <a:rPr lang="en-US" sz="1050" dirty="0">
                <a:solidFill>
                  <a:srgbClr val="1F2A24"/>
                </a:solidFill>
                <a:latin typeface="Calibri" pitchFamily="34" charset="0"/>
                <a:ea typeface="Calibri" pitchFamily="34" charset="-122"/>
                <a:cs typeface="Calibri" pitchFamily="34" charset="-120"/>
              </a:rPr>
              <a:t>; stack đệ quy O(log n).</a:t>
            </a:r>
            <a:endParaRPr lang="en-US" sz="1050" dirty="0"/>
          </a:p>
        </p:txBody>
      </p:sp>
      <p:sp>
        <p:nvSpPr>
          <p:cNvPr id="4" name="Shape 2"/>
          <p:cNvSpPr/>
          <p:nvPr/>
        </p:nvSpPr>
        <p:spPr>
          <a:xfrm>
            <a:off x="457200" y="3227832"/>
            <a:ext cx="4023360" cy="1618488"/>
          </a:xfrm>
          <a:prstGeom prst="roundRect">
            <a:avLst>
              <a:gd name="adj" fmla="val 4520"/>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530352" y="3273552"/>
            <a:ext cx="3877056" cy="1527048"/>
          </a:xfrm>
          <a:prstGeom prst="rect">
            <a:avLst/>
          </a:prstGeom>
          <a:noFill/>
          <a:ln/>
        </p:spPr>
        <p:txBody>
          <a:bodyPr wrap="square" lIns="0" tIns="0" rIns="0" bIns="0" rtlCol="0" anchor="t"/>
          <a:lstStyle/>
          <a:p>
            <a:pPr marL="0" indent="0">
              <a:buNone/>
            </a:pPr>
            <a:r>
              <a:rPr lang="en-US" sz="750" dirty="0">
                <a:solidFill>
                  <a:srgbClr val="DDEBD0"/>
                </a:solidFill>
                <a:latin typeface="Courier New" pitchFamily="34" charset="0"/>
                <a:ea typeface="Courier New" pitchFamily="34" charset="-122"/>
                <a:cs typeface="Courier New" pitchFamily="34" charset="-120"/>
              </a:rPr>
              <a:t>Redmi, Galaxy, Vivo, iPhone, Pixel</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Tách:  [Redmi Galaxy Vivo] | [iPhone Pixel]</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Sắp:   [Galaxy Redmi Vivo]   [iPhone Pixel]</a:t>
            </a:r>
            <a:endParaRPr lang="en-US" sz="750" dirty="0"/>
          </a:p>
          <a:p>
            <a:pPr marL="0" indent="0">
              <a:buNone/>
            </a:pPr>
            <a:r>
              <a:rPr lang="en-US" sz="750" dirty="0">
                <a:solidFill>
                  <a:srgbClr val="DDEBD0"/>
                </a:solidFill>
                <a:latin typeface="Courier New" pitchFamily="34" charset="0"/>
                <a:ea typeface="Courier New" pitchFamily="34" charset="-122"/>
                <a:cs typeface="Courier New" pitchFamily="34" charset="-120"/>
              </a:rPr>
              <a:t>Trộn:  dummy→Galaxy→iPhone→Pixel→Redmi→Vivo</a:t>
            </a:r>
            <a:endParaRPr lang="en-US" sz="750" dirty="0"/>
          </a:p>
        </p:txBody>
      </p:sp>
      <p:sp>
        <p:nvSpPr>
          <p:cNvPr id="6" name="Shape 4"/>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7" name="Text 5"/>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700" dirty="0">
                <a:solidFill>
                  <a:srgbClr val="DDEBD0"/>
                </a:solidFill>
                <a:latin typeface="Courier New" pitchFamily="34" charset="0"/>
                <a:ea typeface="Courier New" pitchFamily="34" charset="-122"/>
                <a:cs typeface="Courier New" pitchFamily="34" charset="-120"/>
              </a:rPr>
              <a:t>void TachDoiList(NodeList* source,</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NodeList*&amp; head1, NodeList*&amp; head2)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NodeList* fast = source-&gt;pNext;</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NodeList* slow = source;</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while (fast != NULL)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fast = fast-&gt;pNext;</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if (fast != NULL)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slow = slow-&gt;pNext; fast = fast-&gt;pNext;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head1 = source; head2 = slow-&gt;pNext;</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slow-&gt;pNext = NULL;              // cắt đôi</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NodeList* TronHaiList(NodeList* a, NodeList* b)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NodeList dummy; NodeList* tail = &amp;dummy;</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dummy.pNext = NULL;</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while (a != NULL &amp;&amp; b != NULL)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if (SoSanhUuTien(a-&gt;data, b-&gt;data) &lt;= 0)</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 tail-&gt;pNext = a; a = a-&gt;pNext;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else { tail-&gt;pNext = b; b = b-&gt;pNext;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tail = tail-&gt;pNext;</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tail-&gt;pNext = (a != NULL) ? a : b;</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return dummy.pNext;</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void MergeSort_Node(NodeList*&amp; head) {</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if (head == NULL || head-&gt;pNext == NULL) return;</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NodeList *head1 = NULL, *head2 = NULL;</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TachDoiList(head, head1, head2);</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MergeSort_Node(head1); MergeSort_Node(head2);</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  head = TronHaiList(head1, head2);</a:t>
            </a:r>
            <a:endParaRPr lang="en-US" sz="700" dirty="0"/>
          </a:p>
          <a:p>
            <a:pPr marL="0" indent="0">
              <a:buNone/>
            </a:pPr>
            <a:r>
              <a:rPr lang="en-US" sz="700" dirty="0">
                <a:solidFill>
                  <a:srgbClr val="DDEBD0"/>
                </a:solidFill>
                <a:latin typeface="Courier New" pitchFamily="34" charset="0"/>
                <a:ea typeface="Courier New" pitchFamily="34" charset="-122"/>
                <a:cs typeface="Courier New" pitchFamily="34" charset="-120"/>
              </a:rPr>
              <a:t>}</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2200" b="1" dirty="0">
                <a:solidFill>
                  <a:srgbClr val="12352B"/>
                </a:solidFill>
                <a:latin typeface="Cambria" pitchFamily="34" charset="0"/>
                <a:ea typeface="Cambria" pitchFamily="34" charset="-122"/>
                <a:cs typeface="Cambria" pitchFamily="34" charset="-120"/>
              </a:rPr>
              <a:t>Selection Sort vs Insertion Sort vs Merge Sort trên DSLK</a:t>
            </a:r>
            <a:endParaRPr lang="en-US" sz="2200" dirty="0"/>
          </a:p>
        </p:txBody>
      </p:sp>
      <p:sp>
        <p:nvSpPr>
          <p:cNvPr id="3" name="Text 1"/>
          <p:cNvSpPr txBox="1"/>
          <p:nvPr/>
        </p:nvSpPr>
        <p:spPr>
          <a:xfrm>
            <a:off x="457200" y="1051560"/>
            <a:ext cx="4023360" cy="3657600"/>
          </a:xfrm>
          <a:prstGeom prst="rect">
            <a:avLst/>
          </a:prstGeom>
          <a:noFill/>
          <a:ln/>
        </p:spPr>
        <p:txBody>
          <a:bodyPr wrap="square" lIns="0" tIns="0" rIns="0" bIns="0" rtlCol="0" anchor="t"/>
          <a:lstStyle/>
          <a:p>
            <a:pPr marL="152400" indent="-152400">
              <a:spcAft>
                <a:spcPts val="400"/>
              </a:spcAft>
              <a:buSzPct val="100000"/>
              <a:buChar char="•"/>
            </a:pPr>
            <a:r>
              <a:rPr lang="en-US" sz="1100" b="1" dirty="0">
                <a:solidFill>
                  <a:srgbClr val="1F2A24"/>
                </a:solidFill>
                <a:latin typeface="Calibri" pitchFamily="34" charset="0"/>
                <a:ea typeface="Calibri" pitchFamily="34" charset="-122"/>
                <a:cs typeface="Calibri" pitchFamily="34" charset="-120"/>
              </a:rPr>
              <a:t>Selection:</a:t>
            </a:r>
            <a:r>
              <a:rPr lang="en-US" sz="1100" dirty="0">
                <a:solidFill>
                  <a:srgbClr val="1F2A24"/>
                </a:solidFill>
                <a:latin typeface="Calibri" pitchFamily="34" charset="0"/>
                <a:ea typeface="Calibri" pitchFamily="34" charset="-122"/>
                <a:cs typeface="Calibri" pitchFamily="34" charset="-120"/>
              </a:rPr>
              <a:t> tìm minNode, </a:t>
            </a:r>
            <a:r>
              <a:rPr lang="en-US" sz="1100" b="1" dirty="0">
                <a:solidFill>
                  <a:srgbClr val="1F2A24"/>
                </a:solidFill>
                <a:latin typeface="Calibri" pitchFamily="34" charset="0"/>
                <a:ea typeface="Calibri" pitchFamily="34" charset="-122"/>
                <a:cs typeface="Calibri" pitchFamily="34" charset="-120"/>
              </a:rPr>
              <a:t>hoán đổi data</a:t>
            </a:r>
            <a:r>
              <a:rPr lang="en-US" sz="1100" dirty="0">
                <a:solidFill>
                  <a:srgbClr val="1F2A24"/>
                </a:solidFill>
                <a:latin typeface="Calibri" pitchFamily="34" charset="0"/>
                <a:ea typeface="Calibri" pitchFamily="34" charset="-122"/>
                <a:cs typeface="Calibri" pitchFamily="34" charset="-120"/>
              </a:rPr>
              <a:t> → luôn </a:t>
            </a:r>
            <a:r>
              <a:rPr lang="en-US" sz="1100" b="1" dirty="0">
                <a:solidFill>
                  <a:srgbClr val="1F2A24"/>
                </a:solidFill>
                <a:latin typeface="Calibri" pitchFamily="34" charset="0"/>
                <a:ea typeface="Calibri" pitchFamily="34" charset="-122"/>
                <a:cs typeface="Calibri" pitchFamily="34" charset="-120"/>
              </a:rPr>
              <a:t>O(n²)</a:t>
            </a:r>
            <a:r>
              <a:rPr lang="en-US" sz="1100" dirty="0">
                <a:solidFill>
                  <a:srgbClr val="1F2A24"/>
                </a:solidFill>
                <a:latin typeface="Calibri" pitchFamily="34" charset="0"/>
                <a:ea typeface="Calibri" pitchFamily="34" charset="-122"/>
                <a:cs typeface="Calibri" pitchFamily="34" charset="-120"/>
              </a:rPr>
              <a:t> so sánh, ≤ n−1 lần hoán đổi.</a:t>
            </a:r>
            <a:endParaRPr lang="en-US" sz="1100" dirty="0"/>
          </a:p>
          <a:p>
            <a:pPr marL="152400" indent="-152400">
              <a:spcAft>
                <a:spcPts val="400"/>
              </a:spcAft>
              <a:buSzPct val="100000"/>
              <a:buChar char="•"/>
            </a:pPr>
            <a:r>
              <a:rPr lang="en-US" sz="1100" b="1" dirty="0">
                <a:solidFill>
                  <a:srgbClr val="1F2A24"/>
                </a:solidFill>
                <a:latin typeface="Calibri" pitchFamily="34" charset="0"/>
                <a:ea typeface="Calibri" pitchFamily="34" charset="-122"/>
                <a:cs typeface="Calibri" pitchFamily="34" charset="-120"/>
              </a:rPr>
              <a:t>Insertion:</a:t>
            </a:r>
            <a:r>
              <a:rPr lang="en-US" sz="1100" dirty="0">
                <a:solidFill>
                  <a:srgbClr val="1F2A24"/>
                </a:solidFill>
                <a:latin typeface="Calibri" pitchFamily="34" charset="0"/>
                <a:ea typeface="Calibri" pitchFamily="34" charset="-122"/>
                <a:cs typeface="Calibri" pitchFamily="34" charset="-120"/>
              </a:rPr>
              <a:t> dò từ đầu list kết quả, </a:t>
            </a:r>
            <a:r>
              <a:rPr lang="en-US" sz="1100" b="1" dirty="0">
                <a:solidFill>
                  <a:srgbClr val="1F2A24"/>
                </a:solidFill>
                <a:latin typeface="Calibri" pitchFamily="34" charset="0"/>
                <a:ea typeface="Calibri" pitchFamily="34" charset="-122"/>
                <a:cs typeface="Calibri" pitchFamily="34" charset="-120"/>
              </a:rPr>
              <a:t>nối lại pNext</a:t>
            </a:r>
            <a:r>
              <a:rPr lang="en-US" sz="1100" dirty="0">
                <a:solidFill>
                  <a:srgbClr val="1F2A24"/>
                </a:solidFill>
                <a:latin typeface="Calibri" pitchFamily="34" charset="0"/>
                <a:ea typeface="Calibri" pitchFamily="34" charset="-122"/>
                <a:cs typeface="Calibri" pitchFamily="34" charset="-120"/>
              </a:rPr>
              <a:t> → TB/xấu nhất </a:t>
            </a:r>
            <a:r>
              <a:rPr lang="en-US" sz="1100" b="1" dirty="0">
                <a:solidFill>
                  <a:srgbClr val="1F2A24"/>
                </a:solidFill>
                <a:latin typeface="Calibri" pitchFamily="34" charset="0"/>
                <a:ea typeface="Calibri" pitchFamily="34" charset="-122"/>
                <a:cs typeface="Calibri" pitchFamily="34" charset="-120"/>
              </a:rPr>
              <a:t>O(n²)</a:t>
            </a:r>
            <a:r>
              <a:rPr lang="en-US" sz="1100" dirty="0">
                <a:solidFill>
                  <a:srgbClr val="1F2A24"/>
                </a:solidFill>
                <a:latin typeface="Calibri" pitchFamily="34" charset="0"/>
                <a:ea typeface="Calibri" pitchFamily="34" charset="-122"/>
                <a:cs typeface="Calibri" pitchFamily="34" charset="-120"/>
              </a:rPr>
              <a:t>.</a:t>
            </a:r>
            <a:endParaRPr lang="en-US" sz="1100" dirty="0"/>
          </a:p>
          <a:p>
            <a:pPr marL="152400" indent="-152400">
              <a:spcAft>
                <a:spcPts val="400"/>
              </a:spcAft>
              <a:buSzPct val="100000"/>
              <a:buChar char="•"/>
            </a:pPr>
            <a:r>
              <a:rPr lang="en-US" sz="1100" b="1" dirty="0">
                <a:solidFill>
                  <a:srgbClr val="1F2A24"/>
                </a:solidFill>
                <a:latin typeface="Calibri" pitchFamily="34" charset="0"/>
                <a:ea typeface="Calibri" pitchFamily="34" charset="-122"/>
                <a:cs typeface="Calibri" pitchFamily="34" charset="-120"/>
              </a:rPr>
              <a:t>Merge:</a:t>
            </a:r>
            <a:r>
              <a:rPr lang="en-US" sz="1100" dirty="0">
                <a:solidFill>
                  <a:srgbClr val="1F2A24"/>
                </a:solidFill>
                <a:latin typeface="Calibri" pitchFamily="34" charset="0"/>
                <a:ea typeface="Calibri" pitchFamily="34" charset="-122"/>
                <a:cs typeface="Calibri" pitchFamily="34" charset="-120"/>
              </a:rPr>
              <a:t> chia để trị → </a:t>
            </a:r>
            <a:r>
              <a:rPr lang="en-US" sz="1100" b="1" dirty="0">
                <a:solidFill>
                  <a:srgbClr val="1F2A24"/>
                </a:solidFill>
                <a:latin typeface="Calibri" pitchFamily="34" charset="0"/>
                <a:ea typeface="Calibri" pitchFamily="34" charset="-122"/>
                <a:cs typeface="Calibri" pitchFamily="34" charset="-120"/>
              </a:rPr>
              <a:t>O(n log n)</a:t>
            </a:r>
            <a:r>
              <a:rPr lang="en-US" sz="1100" dirty="0">
                <a:solidFill>
                  <a:srgbClr val="1F2A24"/>
                </a:solidFill>
                <a:latin typeface="Calibri" pitchFamily="34" charset="0"/>
                <a:ea typeface="Calibri" pitchFamily="34" charset="-122"/>
                <a:cs typeface="Calibri" pitchFamily="34" charset="-120"/>
              </a:rPr>
              <a:t> mọi trường hợp.</a:t>
            </a:r>
            <a:endParaRPr lang="en-US" sz="1100" dirty="0"/>
          </a:p>
          <a:p>
            <a:pPr marL="152400" indent="-1524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n gấp đôi: Selection/Insertion chậm ~</a:t>
            </a:r>
            <a:r>
              <a:rPr lang="en-US" sz="1100" b="1" dirty="0">
                <a:solidFill>
                  <a:srgbClr val="1F2A24"/>
                </a:solidFill>
                <a:latin typeface="Calibri" pitchFamily="34" charset="0"/>
                <a:ea typeface="Calibri" pitchFamily="34" charset="-122"/>
                <a:cs typeface="Calibri" pitchFamily="34" charset="-120"/>
              </a:rPr>
              <a:t>4 lần</a:t>
            </a:r>
            <a:r>
              <a:rPr lang="en-US" sz="1100" dirty="0">
                <a:solidFill>
                  <a:srgbClr val="1F2A24"/>
                </a:solidFill>
                <a:latin typeface="Calibri" pitchFamily="34" charset="0"/>
                <a:ea typeface="Calibri" pitchFamily="34" charset="-122"/>
                <a:cs typeface="Calibri" pitchFamily="34" charset="-120"/>
              </a:rPr>
              <a:t>, Merge chỉ ~</a:t>
            </a:r>
            <a:r>
              <a:rPr lang="en-US" sz="1100" b="1" dirty="0">
                <a:solidFill>
                  <a:srgbClr val="1F2A24"/>
                </a:solidFill>
                <a:latin typeface="Calibri" pitchFamily="34" charset="0"/>
                <a:ea typeface="Calibri" pitchFamily="34" charset="-122"/>
                <a:cs typeface="Calibri" pitchFamily="34" charset="-120"/>
              </a:rPr>
              <a:t>2,4 lần</a:t>
            </a:r>
            <a:r>
              <a:rPr lang="en-US" sz="1100" dirty="0">
                <a:solidFill>
                  <a:srgbClr val="1F2A24"/>
                </a:solidFill>
                <a:latin typeface="Calibri" pitchFamily="34" charset="0"/>
                <a:ea typeface="Calibri" pitchFamily="34" charset="-122"/>
                <a:cs typeface="Calibri" pitchFamily="34" charset="-120"/>
              </a:rPr>
              <a:t>.</a:t>
            </a:r>
            <a:endParaRPr lang="en-US" sz="1100" dirty="0"/>
          </a:p>
          <a:p>
            <a:pPr marL="152400" indent="-1524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*Insertion tốt nhất O(n) khi đầu vào sắp </a:t>
            </a:r>
            <a:r>
              <a:rPr lang="en-US" sz="1100" b="1" dirty="0">
                <a:solidFill>
                  <a:srgbClr val="1F2A24"/>
                </a:solidFill>
                <a:latin typeface="Calibri" pitchFamily="34" charset="0"/>
                <a:ea typeface="Calibri" pitchFamily="34" charset="-122"/>
                <a:cs typeface="Calibri" pitchFamily="34" charset="-120"/>
              </a:rPr>
              <a:t>ngược</a:t>
            </a:r>
            <a:r>
              <a:rPr lang="en-US" sz="1100" dirty="0">
                <a:solidFill>
                  <a:srgbClr val="1F2A24"/>
                </a:solidFill>
                <a:latin typeface="Calibri" pitchFamily="34" charset="0"/>
                <a:ea typeface="Calibri" pitchFamily="34" charset="-122"/>
                <a:cs typeface="Calibri" pitchFamily="34" charset="-120"/>
              </a:rPr>
              <a:t> (chèn vào đầu). Đã sắp xuôi thì O(n²).</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1188720"/>
        </p:xfrm>
        <a:graphic>
          <a:graphicData uri="http://schemas.openxmlformats.org/drawingml/2006/table">
            <a:tbl>
              <a:tblPr/>
              <a:tblGrid>
                <a:gridCol w="8229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Giải thuật</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Tốt nhất</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TB</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Xấu nhất</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Thao tác</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extLst>
                  <a:ext uri="{0D108BD9-81ED-4DB2-BD59-A6C34878D82A}">
                    <a16:rowId xmlns:a16="http://schemas.microsoft.com/office/drawing/2014/main" val="10000"/>
                  </a:ext>
                </a:extLst>
              </a:tr>
              <a:tr h="274320">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Selection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O(n²)</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O(n²)</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O(n²)</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Hoán đổi data</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Insertion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O(n²)</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O(n²)</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Nối pNext</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Merge</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 log 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 log 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O(n log 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Nối pNext</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txBox="1"/>
          <p:nvPr/>
        </p:nvSpPr>
        <p:spPr>
          <a:xfrm>
            <a:off x="4663440" y="2423160"/>
            <a:ext cx="4023360" cy="274320"/>
          </a:xfrm>
          <a:prstGeom prst="rect">
            <a:avLst/>
          </a:prstGeom>
          <a:noFill/>
          <a:ln/>
        </p:spPr>
        <p:txBody>
          <a:bodyPr wrap="square" lIns="0" tIns="0" rIns="0" bIns="0" rtlCol="0" anchor="ctr"/>
          <a:lstStyle/>
          <a:p>
            <a:pPr marL="0" indent="0">
              <a:buNone/>
            </a:pPr>
            <a:r>
              <a:rPr lang="en-US" sz="1100" b="1" dirty="0">
                <a:solidFill>
                  <a:srgbClr val="12352B"/>
                </a:solidFill>
                <a:latin typeface="Calibri" pitchFamily="34" charset="0"/>
                <a:ea typeface="Calibri" pitchFamily="34" charset="-122"/>
                <a:cs typeface="Calibri" pitchFamily="34" charset="-120"/>
              </a:rPr>
              <a:t>Thời gian thực đo (ms)</a:t>
            </a:r>
            <a:endParaRPr lang="en-US" sz="11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663440" y="2743200"/>
          <a:ext cx="4023360" cy="1371600"/>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Selection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Insertion</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Merge</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solidFill>
                      <a:srgbClr val="12352B"/>
                    </a:solidFill>
                  </a:tcPr>
                </a:tc>
                <a:extLst>
                  <a:ext uri="{0D108BD9-81ED-4DB2-BD59-A6C34878D82A}">
                    <a16:rowId xmlns:a16="http://schemas.microsoft.com/office/drawing/2014/main" val="10000"/>
                  </a:ext>
                </a:extLst>
              </a:tr>
              <a:tr h="274320">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1.000</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0,17</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5.000</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59,4</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72,9</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1,16</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10.000</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257,6</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240,9</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2,98</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20.000</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1.174,3</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1.499,2</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tc>
                  <a:txBody>
                    <a:bodyPr/>
                    <a:lstStyle/>
                    <a:p>
                      <a:pPr marL="0" indent="0" algn="ctr">
                        <a:buNone/>
                      </a:pPr>
                      <a:r>
                        <a:rPr lang="en-US" sz="900" dirty="0">
                          <a:solidFill>
                            <a:srgbClr val="1F2A24"/>
                          </a:solidFill>
                          <a:latin typeface="Calibri" pitchFamily="34" charset="0"/>
                          <a:ea typeface="Calibri" pitchFamily="34" charset="-122"/>
                          <a:cs typeface="Calibri" pitchFamily="34" charset="-120"/>
                        </a:rPr>
                        <a:t>7,21</a:t>
                      </a:r>
                      <a:endParaRPr lang="en-US" sz="900" dirty="0">
                        <a:latin typeface="Calibri" charset="0"/>
                        <a:ea typeface="Calibri" charset="0"/>
                        <a:cs typeface="Calibri" charset="0"/>
                      </a:endParaRPr>
                    </a:p>
                  </a:txBody>
                  <a:tcPr>
                    <a:lnL w="9525" cap="flat" cmpd="sng" algn="ctr">
                      <a:solidFill>
                        <a:srgbClr val="C9D6C4"/>
                      </a:solidFill>
                      <a:prstDash val="solid"/>
                      <a:round/>
                      <a:headEnd type="none" w="med" len="med"/>
                      <a:tailEnd type="none" w="med" len="med"/>
                    </a:lnL>
                    <a:lnR w="9525" cap="flat" cmpd="sng" algn="ctr">
                      <a:solidFill>
                        <a:srgbClr val="C9D6C4"/>
                      </a:solidFill>
                      <a:prstDash val="solid"/>
                      <a:round/>
                      <a:headEnd type="none" w="med" len="med"/>
                      <a:tailEnd type="none" w="med" len="med"/>
                    </a:lnR>
                    <a:lnT w="9525" cap="flat" cmpd="sng" algn="ctr">
                      <a:solidFill>
                        <a:srgbClr val="C9D6C4"/>
                      </a:solidFill>
                      <a:prstDash val="solid"/>
                      <a:round/>
                      <a:headEnd type="none" w="med" len="med"/>
                      <a:tailEnd type="none" w="med" len="med"/>
                    </a:lnT>
                    <a:lnB w="9525" cap="flat" cmpd="sng" algn="ctr">
                      <a:solidFill>
                        <a:srgbClr val="C9D6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685800"/>
          </a:xfrm>
          <a:prstGeom prst="rect">
            <a:avLst/>
          </a:prstGeom>
          <a:noFill/>
          <a:ln/>
        </p:spPr>
        <p:txBody>
          <a:bodyPr wrap="square" lIns="0" tIns="0" rIns="0" bIns="0" rtlCol="0" anchor="ctr"/>
          <a:lstStyle/>
          <a:p>
            <a:pPr marL="0" indent="0">
              <a:buNone/>
            </a:pPr>
            <a:r>
              <a:rPr lang="en-US" sz="1900" b="1" dirty="0">
                <a:solidFill>
                  <a:srgbClr val="12352B"/>
                </a:solidFill>
                <a:latin typeface="Cambria" pitchFamily="34" charset="0"/>
                <a:ea typeface="Cambria" pitchFamily="34" charset="-122"/>
                <a:cs typeface="Cambria" pitchFamily="34" charset="-120"/>
              </a:rPr>
              <a:t>Độ phức tạp hệ thống, hạn chế (Cây thoái hóa, Bottleneck O(n²)) &amp; hướng phát triển</a:t>
            </a:r>
            <a:endParaRPr lang="en-US" sz="1900" dirty="0"/>
          </a:p>
        </p:txBody>
      </p:sp>
      <p:sp>
        <p:nvSpPr>
          <p:cNvPr id="3" name="Text 1"/>
          <p:cNvSpPr txBox="1"/>
          <p:nvPr/>
        </p:nvSpPr>
        <p:spPr>
          <a:xfrm>
            <a:off x="457200" y="1051560"/>
            <a:ext cx="4023360" cy="365760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Tổng hợp:</a:t>
            </a:r>
            <a:r>
              <a:rPr lang="en-US" sz="1050" dirty="0">
                <a:solidFill>
                  <a:srgbClr val="1F2A24"/>
                </a:solidFill>
                <a:latin typeface="Calibri" pitchFamily="34" charset="0"/>
                <a:ea typeface="Calibri" pitchFamily="34" charset="-122"/>
                <a:cs typeface="Calibri" pitchFamily="34" charset="-120"/>
              </a:rPr>
              <a:t> BST theo mã O(log n) TB, </a:t>
            </a:r>
            <a:r>
              <a:rPr lang="en-US" sz="1050" b="1" dirty="0">
                <a:solidFill>
                  <a:srgbClr val="1F2A24"/>
                </a:solidFill>
                <a:latin typeface="Calibri" pitchFamily="34" charset="0"/>
                <a:ea typeface="Calibri" pitchFamily="34" charset="-122"/>
                <a:cs typeface="Calibri" pitchFamily="34" charset="-120"/>
              </a:rPr>
              <a:t>O(n) xấu nhất</a:t>
            </a:r>
            <a:r>
              <a:rPr lang="en-US" sz="1050" dirty="0">
                <a:solidFill>
                  <a:srgbClr val="1F2A24"/>
                </a:solidFill>
                <a:latin typeface="Calibri" pitchFamily="34" charset="0"/>
                <a:ea typeface="Calibri" pitchFamily="34" charset="-122"/>
                <a:cs typeface="Calibri" pitchFamily="34" charset="-120"/>
              </a:rPr>
              <a:t>; duyệt/thống kê O(n); sắp xếp O(n log n) hoặc O(n²).</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Hạn chế 1, cây thoái hóa:</a:t>
            </a:r>
            <a:r>
              <a:rPr lang="en-US" sz="1050" dirty="0">
                <a:solidFill>
                  <a:srgbClr val="1F2A24"/>
                </a:solidFill>
                <a:latin typeface="Calibri" pitchFamily="34" charset="0"/>
                <a:ea typeface="Calibri" pitchFamily="34" charset="-122"/>
                <a:cs typeface="Calibri" pitchFamily="34" charset="-120"/>
              </a:rPr>
              <a:t> nạp maDT đã sắp tăng dần → h = n, BST thành DSLK, mọi thao tác </a:t>
            </a:r>
            <a:r>
              <a:rPr lang="en-US" sz="1050" b="1" dirty="0">
                <a:solidFill>
                  <a:srgbClr val="1F2A24"/>
                </a:solidFill>
                <a:latin typeface="Calibri" pitchFamily="34" charset="0"/>
                <a:ea typeface="Calibri" pitchFamily="34" charset="-122"/>
                <a:cs typeface="Calibri" pitchFamily="34" charset="-120"/>
              </a:rPr>
              <a:t>O(n)</a:t>
            </a:r>
            <a:r>
              <a:rPr lang="en-US" sz="1050" dirty="0">
                <a:solidFill>
                  <a:srgbClr val="1F2A24"/>
                </a:solidFill>
                <a:latin typeface="Calibri" pitchFamily="34" charset="0"/>
                <a:ea typeface="Calibri" pitchFamily="34" charset="-122"/>
                <a:cs typeface="Calibri" pitchFamily="34" charset="-120"/>
              </a:rPr>
              <a:t>.</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Hạn chế 2, O(n²):</a:t>
            </a:r>
            <a:r>
              <a:rPr lang="en-US" sz="1050" dirty="0">
                <a:solidFill>
                  <a:srgbClr val="1F2A24"/>
                </a:solidFill>
                <a:latin typeface="Calibri" pitchFamily="34" charset="0"/>
                <a:ea typeface="Calibri" pitchFamily="34" charset="-122"/>
                <a:cs typeface="Calibri" pitchFamily="34" charset="-120"/>
              </a:rPr>
              <a:t> DuyetVaInHang (CN 7) và DuyetVaThongKeBanTheoHang (CN 10) gọi </a:t>
            </a:r>
            <a:r>
              <a:rPr lang="en-US" sz="1050" b="1" dirty="0">
                <a:solidFill>
                  <a:srgbClr val="1F2A24"/>
                </a:solidFill>
                <a:latin typeface="Calibri" pitchFamily="34" charset="0"/>
                <a:ea typeface="Calibri" pitchFamily="34" charset="-122"/>
                <a:cs typeface="Calibri" pitchFamily="34" charset="-120"/>
              </a:rPr>
              <a:t>DaXuatHienTruoc</a:t>
            </a:r>
            <a:r>
              <a:rPr lang="en-US" sz="1050" dirty="0">
                <a:solidFill>
                  <a:srgbClr val="1F2A24"/>
                </a:solidFill>
                <a:latin typeface="Calibri" pitchFamily="34" charset="0"/>
                <a:ea typeface="Calibri" pitchFamily="34" charset="-122"/>
                <a:cs typeface="Calibri" pitchFamily="34" charset="-120"/>
              </a:rPr>
              <a:t> quét cả cây tại mỗi node.</a:t>
            </a:r>
            <a:endParaRPr lang="en-US" sz="1050" dirty="0"/>
          </a:p>
          <a:p>
            <a:pPr marL="152400" indent="-152400">
              <a:spcAft>
                <a:spcPts val="400"/>
              </a:spcAft>
              <a:buSzPct val="100000"/>
              <a:buChar char="•"/>
            </a:pPr>
            <a:r>
              <a:rPr lang="en-US" sz="1050" b="1" dirty="0">
                <a:solidFill>
                  <a:srgbClr val="1F2A24"/>
                </a:solidFill>
                <a:latin typeface="Calibri" pitchFamily="34" charset="0"/>
                <a:ea typeface="Calibri" pitchFamily="34" charset="-122"/>
                <a:cs typeface="Calibri" pitchFamily="34" charset="-120"/>
              </a:rPr>
              <a:t>Hướng phát triển:</a:t>
            </a:r>
            <a:r>
              <a:rPr lang="en-US" sz="1050" dirty="0">
                <a:solidFill>
                  <a:srgbClr val="1F2A24"/>
                </a:solidFill>
                <a:latin typeface="Calibri" pitchFamily="34" charset="0"/>
                <a:ea typeface="Calibri" pitchFamily="34" charset="-122"/>
                <a:cs typeface="Calibri" pitchFamily="34" charset="-120"/>
              </a:rPr>
              <a:t> </a:t>
            </a:r>
            <a:r>
              <a:rPr lang="en-US" sz="1050" b="1" dirty="0">
                <a:solidFill>
                  <a:srgbClr val="1F2A24"/>
                </a:solidFill>
                <a:latin typeface="Calibri" pitchFamily="34" charset="0"/>
                <a:ea typeface="Calibri" pitchFamily="34" charset="-122"/>
                <a:cs typeface="Calibri" pitchFamily="34" charset="-120"/>
              </a:rPr>
              <a:t>AVL / Red-Black</a:t>
            </a:r>
            <a:r>
              <a:rPr lang="en-US" sz="1050" dirty="0">
                <a:solidFill>
                  <a:srgbClr val="1F2A24"/>
                </a:solidFill>
                <a:latin typeface="Calibri" pitchFamily="34" charset="0"/>
                <a:ea typeface="Calibri" pitchFamily="34" charset="-122"/>
                <a:cs typeface="Calibri" pitchFamily="34" charset="-120"/>
              </a:rPr>
              <a:t> (h = O(log n)); </a:t>
            </a:r>
            <a:r>
              <a:rPr lang="en-US" sz="1050" b="1" dirty="0">
                <a:solidFill>
                  <a:srgbClr val="1F2A24"/>
                </a:solidFill>
                <a:latin typeface="Calibri" pitchFamily="34" charset="0"/>
                <a:ea typeface="Calibri" pitchFamily="34" charset="-122"/>
                <a:cs typeface="Calibri" pitchFamily="34" charset="-120"/>
              </a:rPr>
              <a:t>Hash Table / Unordered Set</a:t>
            </a:r>
            <a:r>
              <a:rPr lang="en-US" sz="1050" dirty="0">
                <a:solidFill>
                  <a:srgbClr val="1F2A24"/>
                </a:solidFill>
                <a:latin typeface="Calibri" pitchFamily="34" charset="0"/>
                <a:ea typeface="Calibri" pitchFamily="34" charset="-122"/>
                <a:cs typeface="Calibri" pitchFamily="34" charset="-120"/>
              </a:rPr>
              <a:t> (lọc hãng O(n²) → </a:t>
            </a:r>
            <a:r>
              <a:rPr lang="en-US" sz="1050" b="1" dirty="0">
                <a:solidFill>
                  <a:srgbClr val="1F2A24"/>
                </a:solidFill>
                <a:latin typeface="Calibri" pitchFamily="34" charset="0"/>
                <a:ea typeface="Calibri" pitchFamily="34" charset="-122"/>
                <a:cs typeface="Calibri" pitchFamily="34" charset="-120"/>
              </a:rPr>
              <a:t>O(n)</a:t>
            </a:r>
            <a:r>
              <a:rPr lang="en-US" sz="1050" dirty="0">
                <a:solidFill>
                  <a:srgbClr val="1F2A24"/>
                </a:solidFill>
                <a:latin typeface="Calibri" pitchFamily="34" charset="0"/>
                <a:ea typeface="Calibri" pitchFamily="34" charset="-122"/>
                <a:cs typeface="Calibri" pitchFamily="34" charset="-120"/>
              </a:rPr>
              <a:t>); </a:t>
            </a:r>
            <a:r>
              <a:rPr lang="en-US" sz="1050" b="1" dirty="0">
                <a:solidFill>
                  <a:srgbClr val="1F2A24"/>
                </a:solidFill>
                <a:latin typeface="Calibri" pitchFamily="34" charset="0"/>
                <a:ea typeface="Calibri" pitchFamily="34" charset="-122"/>
                <a:cs typeface="Calibri" pitchFamily="34" charset="-120"/>
              </a:rPr>
              <a:t>Console → GUI</a:t>
            </a:r>
            <a:r>
              <a:rPr lang="en-US" sz="1050" dirty="0">
                <a:solidFill>
                  <a:srgbClr val="1F2A24"/>
                </a:solidFill>
                <a:latin typeface="Calibri" pitchFamily="34" charset="0"/>
                <a:ea typeface="Calibri" pitchFamily="34" charset="-122"/>
                <a:cs typeface="Calibri" pitchFamily="34" charset="-120"/>
              </a:rPr>
              <a:t>.</a:t>
            </a:r>
            <a:endParaRPr lang="en-US" sz="1050" dirty="0"/>
          </a:p>
        </p:txBody>
      </p:sp>
      <p:sp>
        <p:nvSpPr>
          <p:cNvPr id="4" name="Shape 2"/>
          <p:cNvSpPr/>
          <p:nvPr/>
        </p:nvSpPr>
        <p:spPr>
          <a:xfrm>
            <a:off x="4663440" y="1051560"/>
            <a:ext cx="4023360" cy="3794760"/>
          </a:xfrm>
          <a:prstGeom prst="roundRect">
            <a:avLst>
              <a:gd name="adj" fmla="val 1928"/>
            </a:avLst>
          </a:prstGeom>
          <a:solidFill>
            <a:srgbClr val="16261F"/>
          </a:solidFill>
          <a:ln w="12700">
            <a:solidFill>
              <a:srgbClr val="16261F"/>
            </a:solidFill>
            <a:prstDash val="solid"/>
          </a:ln>
        </p:spPr>
        <p:txBody>
          <a:bodyPr/>
          <a:lstStyle/>
          <a:p>
            <a:endParaRPr lang="en-US"/>
          </a:p>
        </p:txBody>
      </p:sp>
      <p:sp>
        <p:nvSpPr>
          <p:cNvPr id="5" name="Text 3"/>
          <p:cNvSpPr txBox="1"/>
          <p:nvPr/>
        </p:nvSpPr>
        <p:spPr>
          <a:xfrm>
            <a:off x="4736592" y="1097280"/>
            <a:ext cx="3877056" cy="3703320"/>
          </a:xfrm>
          <a:prstGeom prst="rect">
            <a:avLst/>
          </a:prstGeom>
          <a:noFill/>
          <a:ln/>
        </p:spPr>
        <p:txBody>
          <a:bodyPr wrap="square" lIns="0" tIns="0" rIns="0" bIns="0" rtlCol="0" anchor="t"/>
          <a:lstStyle/>
          <a:p>
            <a:pPr marL="0" indent="0">
              <a:buNone/>
            </a:pPr>
            <a:r>
              <a:rPr lang="en-US" sz="900" dirty="0">
                <a:solidFill>
                  <a:srgbClr val="DDEBD0"/>
                </a:solidFill>
                <a:latin typeface="Courier New" pitchFamily="34" charset="0"/>
                <a:ea typeface="Courier New" pitchFamily="34" charset="-122"/>
                <a:cs typeface="Courier New" pitchFamily="34" charset="-120"/>
              </a:rPr>
              <a:t>Cây thoái hóa (nạp DT001, DT002, DT003 ... tăng dần)</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DT001</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DT002</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DT003 → ...   h = n = O(n)</a:t>
            </a:r>
            <a:endParaRPr lang="en-US" sz="900" dirty="0"/>
          </a:p>
          <a:p>
            <a:pPr marL="0" indent="0">
              <a:buNone/>
            </a:pP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Sau khi dùng AVL (quay cân bằng):</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DT002</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DT001    DT004</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    \</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DT003   DT005     h ≈ log n</a:t>
            </a:r>
            <a:endParaRPr lang="en-US" sz="900" dirty="0"/>
          </a:p>
          <a:p>
            <a:pPr marL="0" indent="0">
              <a:buNone/>
            </a:pP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Lọc hãng (hiện tại):</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mỗi node → DaXuatHienTruoc quét cả cây   ⇒ O(n²)</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Lọc hãng (cải tiến):</a:t>
            </a:r>
            <a:endParaRPr lang="en-US" sz="900" dirty="0"/>
          </a:p>
          <a:p>
            <a:pPr marL="0" indent="0">
              <a:buNone/>
            </a:pPr>
            <a:r>
              <a:rPr lang="en-US" sz="900" dirty="0">
                <a:solidFill>
                  <a:srgbClr val="DDEBD0"/>
                </a:solidFill>
                <a:latin typeface="Courier New" pitchFamily="34" charset="0"/>
                <a:ea typeface="Courier New" pitchFamily="34" charset="-122"/>
                <a:cs typeface="Courier New" pitchFamily="34" charset="-120"/>
              </a:rPr>
              <a:t>  mỗi node → tra Hash Set O(1) TB          ⇒ 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52B"/>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Tổng kết &amp; Hỏi đáp</a:t>
            </a:r>
            <a:endParaRPr lang="en-US" sz="2600" dirty="0"/>
          </a:p>
        </p:txBody>
      </p:sp>
      <p:sp>
        <p:nvSpPr>
          <p:cNvPr id="3" name="Text 1"/>
          <p:cNvSpPr txBox="1"/>
          <p:nvPr/>
        </p:nvSpPr>
        <p:spPr>
          <a:xfrm>
            <a:off x="457200" y="914400"/>
            <a:ext cx="4023360" cy="3566160"/>
          </a:xfrm>
          <a:prstGeom prst="rect">
            <a:avLst/>
          </a:prstGeom>
          <a:noFill/>
          <a:ln/>
        </p:spPr>
        <p:txBody>
          <a:bodyPr wrap="square" lIns="0" tIns="0" rIns="0" bIns="0" rtlCol="0" anchor="t"/>
          <a:lstStyle/>
          <a:p>
            <a:pPr marL="152400" indent="-152400">
              <a:spcAft>
                <a:spcPts val="600"/>
              </a:spcAft>
              <a:buSzPct val="100000"/>
              <a:buChar char="•"/>
            </a:pPr>
            <a:r>
              <a:rPr lang="en-US" sz="1200" b="1" dirty="0">
                <a:solidFill>
                  <a:srgbClr val="FFFFFF"/>
                </a:solidFill>
                <a:latin typeface="Calibri" pitchFamily="34" charset="0"/>
                <a:ea typeface="Calibri" pitchFamily="34" charset="-122"/>
                <a:cs typeface="Calibri" pitchFamily="34" charset="-120"/>
              </a:rPr>
              <a:t>BST đầy đủ:</a:t>
            </a:r>
            <a:r>
              <a:rPr lang="en-US" sz="1200" dirty="0">
                <a:solidFill>
                  <a:srgbClr val="FFFFFF"/>
                </a:solidFill>
                <a:latin typeface="Calibri" pitchFamily="34" charset="0"/>
                <a:ea typeface="Calibri" pitchFamily="34" charset="-122"/>
                <a:cs typeface="Calibri" pitchFamily="34" charset="-120"/>
              </a:rPr>
              <a:t> InsertNode, TimKiemTheoMa, XoaNodeTheoMa (TimNodeThayThe), NLR/LNR/RLN.</a:t>
            </a:r>
            <a:endParaRPr lang="en-US" sz="1200" dirty="0"/>
          </a:p>
          <a:p>
            <a:pPr marL="152400" indent="-152400">
              <a:spcAft>
                <a:spcPts val="600"/>
              </a:spcAft>
              <a:buSzPct val="100000"/>
              <a:buChar char="•"/>
            </a:pPr>
            <a:r>
              <a:rPr lang="en-US" sz="1200" b="1" dirty="0">
                <a:solidFill>
                  <a:srgbClr val="FFFFFF"/>
                </a:solidFill>
                <a:latin typeface="Calibri" pitchFamily="34" charset="0"/>
                <a:ea typeface="Calibri" pitchFamily="34" charset="-122"/>
                <a:cs typeface="Calibri" pitchFamily="34" charset="-120"/>
              </a:rPr>
              <a:t>Đọc/lưu file</a:t>
            </a:r>
            <a:r>
              <a:rPr lang="en-US" sz="1200" dirty="0">
                <a:solidFill>
                  <a:srgbClr val="FFFFFF"/>
                </a:solidFill>
                <a:latin typeface="Calibri" pitchFamily="34" charset="0"/>
                <a:ea typeface="Calibri" pitchFamily="34" charset="-122"/>
                <a:cs typeface="Calibri" pitchFamily="34" charset="-120"/>
              </a:rPr>
              <a:t> và </a:t>
            </a:r>
            <a:r>
              <a:rPr lang="en-US" sz="1200" b="1" dirty="0">
                <a:solidFill>
                  <a:srgbClr val="FFFFFF"/>
                </a:solidFill>
                <a:latin typeface="Calibri" pitchFamily="34" charset="0"/>
                <a:ea typeface="Calibri" pitchFamily="34" charset="-122"/>
                <a:cs typeface="Calibri" pitchFamily="34" charset="-120"/>
              </a:rPr>
              <a:t>sơ đồ cây 2D</a:t>
            </a:r>
            <a:r>
              <a:rPr lang="en-US" sz="1200" dirty="0">
                <a:solidFill>
                  <a:srgbClr val="FFFFFF"/>
                </a:solidFill>
                <a:latin typeface="Calibri" pitchFamily="34" charset="0"/>
                <a:ea typeface="Calibri" pitchFamily="34" charset="-122"/>
                <a:cs typeface="Calibri" pitchFamily="34" charset="-120"/>
              </a:rPr>
              <a:t> (XuatSoDoCayVaoFile).</a:t>
            </a:r>
            <a:endParaRPr lang="en-US" sz="1200" dirty="0"/>
          </a:p>
          <a:p>
            <a:pPr marL="152400" indent="-152400">
              <a:spcAft>
                <a:spcPts val="600"/>
              </a:spcAft>
              <a:buSzPct val="100000"/>
              <a:buChar char="•"/>
            </a:pPr>
            <a:r>
              <a:rPr lang="en-US" sz="1200" b="1" dirty="0">
                <a:solidFill>
                  <a:srgbClr val="FFFFFF"/>
                </a:solidFill>
                <a:latin typeface="Calibri" pitchFamily="34" charset="0"/>
                <a:ea typeface="Calibri" pitchFamily="34" charset="-122"/>
                <a:cs typeface="Calibri" pitchFamily="34" charset="-120"/>
              </a:rPr>
              <a:t>chuyenCaysangDSLK + SoSanhUuTien + 3 giải thuật sắp xếp</a:t>
            </a:r>
            <a:r>
              <a:rPr lang="en-US" sz="1200" dirty="0">
                <a:solidFill>
                  <a:srgbClr val="FFFFFF"/>
                </a:solidFill>
                <a:latin typeface="Calibri" pitchFamily="34" charset="0"/>
                <a:ea typeface="Calibri" pitchFamily="34" charset="-122"/>
                <a:cs typeface="Calibri" pitchFamily="34" charset="-120"/>
              </a:rPr>
              <a:t>; Merge Sort tối ưu nhất.</a:t>
            </a:r>
            <a:endParaRPr lang="en-US" sz="1200" dirty="0"/>
          </a:p>
          <a:p>
            <a:pPr marL="152400" indent="-152400">
              <a:spcAft>
                <a:spcPts val="600"/>
              </a:spcAft>
              <a:buSzPct val="100000"/>
              <a:buChar char="•"/>
            </a:pPr>
            <a:r>
              <a:rPr lang="en-US" sz="1200" b="1" dirty="0">
                <a:solidFill>
                  <a:srgbClr val="FFFFFF"/>
                </a:solidFill>
                <a:latin typeface="Calibri" pitchFamily="34" charset="0"/>
                <a:ea typeface="Calibri" pitchFamily="34" charset="-122"/>
                <a:cs typeface="Calibri" pitchFamily="34" charset="-120"/>
              </a:rPr>
              <a:t>Bài học:</a:t>
            </a:r>
            <a:r>
              <a:rPr lang="en-US" sz="1200" dirty="0">
                <a:solidFill>
                  <a:srgbClr val="FFFFFF"/>
                </a:solidFill>
                <a:latin typeface="Calibri" pitchFamily="34" charset="0"/>
                <a:ea typeface="Calibri" pitchFamily="34" charset="-122"/>
                <a:cs typeface="Calibri" pitchFamily="34" charset="-120"/>
              </a:rPr>
              <a:t> chọn đúng cấu trúc dữ liệu quyết định hiệu năng.</a:t>
            </a:r>
            <a:endParaRPr lang="en-US" sz="1200" dirty="0"/>
          </a:p>
          <a:p>
            <a:pPr marL="152400" indent="-152400">
              <a:spcAft>
                <a:spcPts val="600"/>
              </a:spcAft>
              <a:buSzPct val="100000"/>
              <a:buChar char="•"/>
            </a:pPr>
            <a:r>
              <a:rPr lang="en-US" sz="1200" b="1" dirty="0">
                <a:solidFill>
                  <a:srgbClr val="FFFFFF"/>
                </a:solidFill>
                <a:latin typeface="Calibri" pitchFamily="34" charset="0"/>
                <a:ea typeface="Calibri" pitchFamily="34" charset="-122"/>
                <a:cs typeface="Calibri" pitchFamily="34" charset="-120"/>
              </a:rPr>
              <a:t>Hướng phát triển:</a:t>
            </a:r>
            <a:r>
              <a:rPr lang="en-US" sz="1200" dirty="0">
                <a:solidFill>
                  <a:srgbClr val="FFFFFF"/>
                </a:solidFill>
                <a:latin typeface="Calibri" pitchFamily="34" charset="0"/>
                <a:ea typeface="Calibri" pitchFamily="34" charset="-122"/>
                <a:cs typeface="Calibri" pitchFamily="34" charset="-120"/>
              </a:rPr>
              <a:t> AVL / Red-Black, Hash Table, Console → GUI.</a:t>
            </a:r>
            <a:endParaRPr lang="en-US" sz="1200" dirty="0"/>
          </a:p>
        </p:txBody>
      </p:sp>
      <p:sp>
        <p:nvSpPr>
          <p:cNvPr id="6" name="Text 4"/>
          <p:cNvSpPr txBox="1"/>
          <p:nvPr/>
        </p:nvSpPr>
        <p:spPr>
          <a:xfrm>
            <a:off x="457200" y="4572000"/>
            <a:ext cx="4023360" cy="365760"/>
          </a:xfrm>
          <a:prstGeom prst="rect">
            <a:avLst/>
          </a:prstGeom>
          <a:noFill/>
          <a:ln/>
        </p:spPr>
        <p:txBody>
          <a:bodyPr wrap="square" lIns="0" tIns="0" rIns="0" bIns="0" rtlCol="0" anchor="ctr"/>
          <a:lstStyle/>
          <a:p>
            <a:pPr marL="0" indent="0">
              <a:buNone/>
            </a:pPr>
            <a:r>
              <a:rPr lang="en-US" sz="1600" b="1" dirty="0">
                <a:solidFill>
                  <a:srgbClr val="7FB069"/>
                </a:solidFill>
                <a:latin typeface="Cambria" pitchFamily="34" charset="0"/>
                <a:ea typeface="Cambria" pitchFamily="34" charset="-122"/>
                <a:cs typeface="Cambria" pitchFamily="34" charset="-120"/>
              </a:rPr>
              <a:t>Xin cảm </a:t>
            </a:r>
            <a:r>
              <a:rPr lang="en-US" sz="1600" b="1" dirty="0" err="1">
                <a:solidFill>
                  <a:srgbClr val="7FB069"/>
                </a:solidFill>
                <a:latin typeface="Cambria" pitchFamily="34" charset="0"/>
                <a:ea typeface="Cambria" pitchFamily="34" charset="-122"/>
                <a:cs typeface="Cambria" pitchFamily="34" charset="-120"/>
              </a:rPr>
              <a:t>ơn</a:t>
            </a:r>
            <a:r>
              <a:rPr lang="en-US" sz="1600" b="1" dirty="0">
                <a:solidFill>
                  <a:srgbClr val="7FB069"/>
                </a:solidFill>
                <a:latin typeface="Cambria" pitchFamily="34" charset="0"/>
                <a:ea typeface="Cambria" pitchFamily="34" charset="-122"/>
                <a:cs typeface="Cambria" pitchFamily="34" charset="-120"/>
              </a:rPr>
              <a:t>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4095</Words>
  <Application>Microsoft Office PowerPoint</Application>
  <PresentationFormat>On-screen Show (16:9)</PresentationFormat>
  <Paragraphs>324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QLDT BST+SLL - Nhom 06</dc:title>
  <dc:subject>PptxGenJS Presentation</dc:subject>
  <dc:creator>PptxGenJS</dc:creator>
  <cp:lastModifiedBy>Sinh Ly Van</cp:lastModifiedBy>
  <cp:revision>5</cp:revision>
  <dcterms:created xsi:type="dcterms:W3CDTF">2026-09-30T10:59:32Z</dcterms:created>
  <dcterms:modified xsi:type="dcterms:W3CDTF">2026-09-30T13:51:53Z</dcterms:modified>
</cp:coreProperties>
</file>